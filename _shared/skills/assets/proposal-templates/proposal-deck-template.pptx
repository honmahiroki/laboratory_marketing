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401" r:id="rId2"/>
    <p:sldId id="398" r:id="rId3"/>
    <p:sldId id="400" r:id="rId4"/>
    <p:sldId id="316" r:id="rId5"/>
    <p:sldId id="317" r:id="rId6"/>
    <p:sldId id="318" r:id="rId7"/>
    <p:sldId id="319" r:id="rId8"/>
    <p:sldId id="332" r:id="rId9"/>
    <p:sldId id="333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0C30E9C7-8891-D844-A7CC-52978BDC7477}">
          <p14:sldIdLst>
            <p14:sldId id="401"/>
            <p14:sldId id="398"/>
            <p14:sldId id="400"/>
          </p14:sldIdLst>
        </p14:section>
        <p14:section name="本編" id="{16B2F1D2-F6DF-1C49-B07F-9BC34A714889}">
          <p14:sldIdLst>
            <p14:sldId id="316"/>
            <p14:sldId id="317"/>
            <p14:sldId id="318"/>
            <p14:sldId id="319"/>
            <p14:sldId id="332"/>
            <p14:sldId id="333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6FC"/>
    <a:srgbClr val="0399D8"/>
    <a:srgbClr val="F76892"/>
    <a:srgbClr val="1FB9F3"/>
    <a:srgbClr val="3498DB"/>
    <a:srgbClr val="E74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9"/>
    <p:restoredTop sz="95578"/>
  </p:normalViewPr>
  <p:slideViewPr>
    <p:cSldViewPr snapToGrid="0">
      <p:cViewPr varScale="1">
        <p:scale>
          <a:sx n="118" d="100"/>
          <a:sy n="118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3" d="100"/>
        <a:sy n="103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2412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060-544F-BFF3-D82186119AAE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060-544F-BFF3-D82186119AAE}"/>
              </c:ext>
            </c:extLst>
          </c:dPt>
          <c:dPt>
            <c:idx val="2"/>
            <c:invertIfNegative val="0"/>
            <c:bubble3D val="0"/>
            <c:spPr>
              <a:solidFill>
                <a:schemeClr val="tx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060-544F-BFF3-D82186119AAE}"/>
              </c:ext>
            </c:extLst>
          </c:dPt>
          <c:dPt>
            <c:idx val="3"/>
            <c:invertIfNegative val="0"/>
            <c:bubble3D val="0"/>
            <c:spPr>
              <a:solidFill>
                <a:schemeClr val="tx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3060-544F-BFF3-D82186119AAE}"/>
              </c:ext>
            </c:extLst>
          </c:dPt>
          <c:dPt>
            <c:idx val="4"/>
            <c:invertIfNegative val="0"/>
            <c:bubble3D val="0"/>
            <c:spPr>
              <a:solidFill>
                <a:schemeClr val="tx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60-544F-BFF3-D82186119AAE}"/>
              </c:ext>
            </c:extLst>
          </c:dPt>
          <c:dPt>
            <c:idx val="5"/>
            <c:invertIfNegative val="0"/>
            <c:bubble3D val="0"/>
            <c:spPr>
              <a:solidFill>
                <a:schemeClr val="tx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3060-544F-BFF3-D82186119AAE}"/>
              </c:ext>
            </c:extLst>
          </c:dPt>
          <c:cat>
            <c:numRef>
              <c:f>Sheet1!$A$2:$A$11</c:f>
              <c:numCache>
                <c:formatCode>General</c:formatCode>
                <c:ptCount val="10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7</c:v>
                </c:pt>
                <c:pt idx="4">
                  <c:v>11</c:v>
                </c:pt>
                <c:pt idx="5">
                  <c:v>16</c:v>
                </c:pt>
                <c:pt idx="6">
                  <c:v>19</c:v>
                </c:pt>
                <c:pt idx="7">
                  <c:v>20</c:v>
                </c:pt>
                <c:pt idx="8">
                  <c:v>21</c:v>
                </c:pt>
                <c:pt idx="9">
                  <c:v>21.5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D9-F348-94F9-1FDD086C46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overlap val="-27"/>
        <c:axId val="347484592"/>
        <c:axId val="347486304"/>
      </c:barChart>
      <c:catAx>
        <c:axId val="347484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347486304"/>
        <c:crosses val="autoZero"/>
        <c:auto val="1"/>
        <c:lblAlgn val="ctr"/>
        <c:lblOffset val="100"/>
        <c:noMultiLvlLbl val="0"/>
      </c:catAx>
      <c:valAx>
        <c:axId val="347486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347484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2857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31.2</c:v>
                </c:pt>
                <c:pt idx="1">
                  <c:v>31.5</c:v>
                </c:pt>
                <c:pt idx="2">
                  <c:v>31.6</c:v>
                </c:pt>
                <c:pt idx="3">
                  <c:v>31.9</c:v>
                </c:pt>
                <c:pt idx="4">
                  <c:v>32.4</c:v>
                </c:pt>
                <c:pt idx="5">
                  <c:v>32.4</c:v>
                </c:pt>
                <c:pt idx="6">
                  <c:v>32.6</c:v>
                </c:pt>
                <c:pt idx="7">
                  <c:v>32.9</c:v>
                </c:pt>
                <c:pt idx="8">
                  <c:v>32.799999999999997</c:v>
                </c:pt>
                <c:pt idx="9">
                  <c:v>32.9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53-9042-A679-9302947E90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2194287"/>
        <c:axId val="482200415"/>
      </c:lineChart>
      <c:catAx>
        <c:axId val="482194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482200415"/>
        <c:crosses val="autoZero"/>
        <c:auto val="1"/>
        <c:lblAlgn val="ctr"/>
        <c:lblOffset val="100"/>
        <c:noMultiLvlLbl val="0"/>
      </c:catAx>
      <c:valAx>
        <c:axId val="4822004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21942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7613-C24B-AD51-F71AB401F91B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7613-C24B-AD51-F71AB401F91B}"/>
              </c:ext>
            </c:extLst>
          </c:dPt>
          <c:dPt>
            <c:idx val="2"/>
            <c:invertIfNegative val="0"/>
            <c:bubble3D val="0"/>
            <c:spPr>
              <a:solidFill>
                <a:schemeClr val="tx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7613-C24B-AD51-F71AB401F91B}"/>
              </c:ext>
            </c:extLst>
          </c:dPt>
          <c:dPt>
            <c:idx val="3"/>
            <c:invertIfNegative val="0"/>
            <c:bubble3D val="0"/>
            <c:spPr>
              <a:solidFill>
                <a:schemeClr val="tx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613-C24B-AD51-F71AB401F91B}"/>
              </c:ext>
            </c:extLst>
          </c:dPt>
          <c:dPt>
            <c:idx val="4"/>
            <c:invertIfNegative val="0"/>
            <c:bubble3D val="0"/>
            <c:spPr>
              <a:solidFill>
                <a:schemeClr val="tx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613-C24B-AD51-F71AB401F91B}"/>
              </c:ext>
            </c:extLst>
          </c:dPt>
          <c:dPt>
            <c:idx val="5"/>
            <c:invertIfNegative val="0"/>
            <c:bubble3D val="0"/>
            <c:spPr>
              <a:solidFill>
                <a:schemeClr val="tx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613-C24B-AD51-F71AB401F91B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613-C24B-AD51-F71AB401F91B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613-C24B-AD51-F71AB401F91B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613-C24B-AD51-F71AB401F91B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613-C24B-AD51-F71AB401F91B}"/>
              </c:ext>
            </c:extLst>
          </c:dPt>
          <c:dLbls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613-C24B-AD51-F71AB401F91B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613-C24B-AD51-F71AB401F91B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7613-C24B-AD51-F71AB401F91B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7613-C24B-AD51-F71AB401F91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588</c:v>
                </c:pt>
                <c:pt idx="1">
                  <c:v>1550</c:v>
                </c:pt>
                <c:pt idx="2">
                  <c:v>2392</c:v>
                </c:pt>
                <c:pt idx="3">
                  <c:v>3450</c:v>
                </c:pt>
                <c:pt idx="4">
                  <c:v>4123</c:v>
                </c:pt>
                <c:pt idx="5">
                  <c:v>5124</c:v>
                </c:pt>
                <c:pt idx="6">
                  <c:v>5459</c:v>
                </c:pt>
                <c:pt idx="7">
                  <c:v>5628</c:v>
                </c:pt>
                <c:pt idx="8">
                  <c:v>5729</c:v>
                </c:pt>
                <c:pt idx="9">
                  <c:v>5740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613-C24B-AD51-F71AB401F9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1"/>
        <c:overlap val="-27"/>
        <c:axId val="709281647"/>
        <c:axId val="709357791"/>
      </c:barChart>
      <c:catAx>
        <c:axId val="709281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709357791"/>
        <c:crosses val="autoZero"/>
        <c:auto val="1"/>
        <c:lblAlgn val="ctr"/>
        <c:lblOffset val="100"/>
        <c:noMultiLvlLbl val="0"/>
      </c:catAx>
      <c:valAx>
        <c:axId val="70935779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092816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F38-3B4A-8D41-9F71797D92E9}"/>
              </c:ext>
            </c:extLst>
          </c:dPt>
          <c:dPt>
            <c:idx val="1"/>
            <c:bubble3D val="0"/>
            <c:spPr>
              <a:solidFill>
                <a:schemeClr val="accent1">
                  <a:alpha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F38-3B4A-8D41-9F71797D92E9}"/>
              </c:ext>
            </c:extLst>
          </c:dPt>
          <c:dPt>
            <c:idx val="2"/>
            <c:bubble3D val="0"/>
            <c:spPr>
              <a:solidFill>
                <a:schemeClr val="accent1">
                  <a:alpha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F38-3B4A-8D41-9F71797D92E9}"/>
              </c:ext>
            </c:extLst>
          </c:dPt>
          <c:dPt>
            <c:idx val="3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F38-3B4A-8D41-9F71797D92E9}"/>
              </c:ext>
            </c:extLst>
          </c:dPt>
          <c:dPt>
            <c:idx val="4"/>
            <c:bubble3D val="0"/>
            <c:spPr>
              <a:solidFill>
                <a:schemeClr val="tx1">
                  <a:alpha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F38-3B4A-8D41-9F71797D92E9}"/>
              </c:ext>
            </c:extLst>
          </c:dPt>
          <c:dPt>
            <c:idx val="5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F38-3B4A-8D41-9F71797D92E9}"/>
              </c:ext>
            </c:extLst>
          </c:dPt>
          <c:cat>
            <c:strRef>
              <c:f>Sheet1!$A$2:$A$7</c:f>
              <c:strCache>
                <c:ptCount val="6"/>
                <c:pt idx="0">
                  <c:v>10代</c:v>
                </c:pt>
                <c:pt idx="1">
                  <c:v>20代</c:v>
                </c:pt>
                <c:pt idx="2">
                  <c:v>30代</c:v>
                </c:pt>
                <c:pt idx="3">
                  <c:v>40代</c:v>
                </c:pt>
                <c:pt idx="4">
                  <c:v>50代</c:v>
                </c:pt>
                <c:pt idx="5">
                  <c:v>60代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30.7</c:v>
                </c:pt>
                <c:pt idx="1">
                  <c:v>45.2</c:v>
                </c:pt>
                <c:pt idx="2">
                  <c:v>30.3</c:v>
                </c:pt>
                <c:pt idx="3">
                  <c:v>16</c:v>
                </c:pt>
                <c:pt idx="4">
                  <c:v>12.1</c:v>
                </c:pt>
                <c:pt idx="5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F38-3B4A-8D41-9F71797D92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07B-184D-8672-3CA9396EB1C6}"/>
              </c:ext>
            </c:extLst>
          </c:dPt>
          <c:dPt>
            <c:idx val="1"/>
            <c:bubble3D val="0"/>
            <c:spPr>
              <a:solidFill>
                <a:schemeClr val="accent1">
                  <a:alpha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7B-184D-8672-3CA9396EB1C6}"/>
              </c:ext>
            </c:extLst>
          </c:dPt>
          <c:dPt>
            <c:idx val="2"/>
            <c:bubble3D val="0"/>
            <c:spPr>
              <a:solidFill>
                <a:schemeClr val="accent1">
                  <a:alpha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07B-184D-8672-3CA9396EB1C6}"/>
              </c:ext>
            </c:extLst>
          </c:dPt>
          <c:dPt>
            <c:idx val="3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07B-184D-8672-3CA9396EB1C6}"/>
              </c:ext>
            </c:extLst>
          </c:dPt>
          <c:dPt>
            <c:idx val="4"/>
            <c:bubble3D val="0"/>
            <c:spPr>
              <a:solidFill>
                <a:schemeClr val="tx1">
                  <a:alpha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07B-184D-8672-3CA9396EB1C6}"/>
              </c:ext>
            </c:extLst>
          </c:dPt>
          <c:dPt>
            <c:idx val="5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07B-184D-8672-3CA9396EB1C6}"/>
              </c:ext>
            </c:extLst>
          </c:dPt>
          <c:cat>
            <c:strRef>
              <c:f>Sheet1!$A$2:$A$7</c:f>
              <c:strCache>
                <c:ptCount val="5"/>
                <c:pt idx="0">
                  <c:v>10代</c:v>
                </c:pt>
                <c:pt idx="1">
                  <c:v>20代</c:v>
                </c:pt>
                <c:pt idx="2">
                  <c:v>30代</c:v>
                </c:pt>
                <c:pt idx="3">
                  <c:v>40代</c:v>
                </c:pt>
                <c:pt idx="4">
                  <c:v>50代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16.899999999999999</c:v>
                </c:pt>
                <c:pt idx="1">
                  <c:v>22.3</c:v>
                </c:pt>
                <c:pt idx="2">
                  <c:v>22.8</c:v>
                </c:pt>
                <c:pt idx="3">
                  <c:v>24.3</c:v>
                </c:pt>
                <c:pt idx="4">
                  <c:v>13.7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7B-184D-8672-3CA9396EB1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ACC-4646-81A5-B8624A5B4CDA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ACC-4646-81A5-B8624A5B4CDA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ACC-4646-81A5-B8624A5B4CDA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ACC-4646-81A5-B8624A5B4CD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accen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AACC-4646-81A5-B8624A5B4CDA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accen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AACC-4646-81A5-B8624A5B4CDA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AACC-4646-81A5-B8624A5B4CDA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AACC-4646-81A5-B8624A5B4CDA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AACC-4646-81A5-B8624A5B4CDA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AACC-4646-81A5-B8624A5B4C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accen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Instagram</c:v>
                </c:pt>
                <c:pt idx="1">
                  <c:v>TikTok</c:v>
                </c:pt>
                <c:pt idx="2">
                  <c:v>YouTube</c:v>
                </c:pt>
                <c:pt idx="3">
                  <c:v>Twitter</c:v>
                </c:pt>
                <c:pt idx="4">
                  <c:v>LINE</c:v>
                </c:pt>
                <c:pt idx="5">
                  <c:v>Facebook</c:v>
                </c:pt>
              </c:strCache>
            </c:strRef>
          </c:cat>
          <c:val>
            <c:numRef>
              <c:f>Sheet1!$B$2:$B$7</c:f>
              <c:numCache>
                <c:formatCode>0.0%</c:formatCode>
                <c:ptCount val="6"/>
                <c:pt idx="0">
                  <c:v>0.432</c:v>
                </c:pt>
                <c:pt idx="1">
                  <c:v>0.36399999999999999</c:v>
                </c:pt>
                <c:pt idx="2">
                  <c:v>0.35399999999999998</c:v>
                </c:pt>
                <c:pt idx="3">
                  <c:v>0.28199999999999997</c:v>
                </c:pt>
                <c:pt idx="4">
                  <c:v>0.19400000000000001</c:v>
                </c:pt>
                <c:pt idx="5">
                  <c:v>9.1999999999999998E-2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ACC-4646-81A5-B8624A5B4CD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832324431"/>
        <c:axId val="1825392783"/>
      </c:barChart>
      <c:catAx>
        <c:axId val="183232443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1825392783"/>
        <c:crosses val="autoZero"/>
        <c:auto val="1"/>
        <c:lblAlgn val="ctr"/>
        <c:lblOffset val="100"/>
        <c:noMultiLvlLbl val="0"/>
      </c:catAx>
      <c:valAx>
        <c:axId val="1825392783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18323244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719037104302611E-2"/>
          <c:y val="9.8122666595932356E-2"/>
          <c:w val="0.94236773975520149"/>
          <c:h val="0.798240230846547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新規顧客獲得数</c:v>
                </c:pt>
              </c:strCache>
            </c:strRef>
          </c:tx>
          <c:spPr>
            <a:solidFill>
              <a:srgbClr val="0399D8"/>
            </a:solidFill>
            <a:ln w="22225">
              <a:noFill/>
              <a:prstDash val="dash"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22225">
                <a:noFill/>
                <a:prstDash val="dash"/>
              </a:ln>
              <a:effectLst/>
            </c:spPr>
            <c:extLst>
              <c:ext xmlns:c16="http://schemas.microsoft.com/office/drawing/2014/chart" uri="{C3380CC4-5D6E-409C-BE32-E72D297353CC}">
                <c16:uniqueId val="{0000000E-B14F-7545-866B-25EC5EAF861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 w="22225">
                <a:noFill/>
                <a:prstDash val="dash"/>
              </a:ln>
              <a:effectLst/>
            </c:spPr>
            <c:extLst>
              <c:ext xmlns:c16="http://schemas.microsoft.com/office/drawing/2014/chart" uri="{C3380CC4-5D6E-409C-BE32-E72D297353CC}">
                <c16:uniqueId val="{0000000F-B14F-7545-866B-25EC5EAF861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 w="22225">
                <a:noFill/>
                <a:prstDash val="dash"/>
              </a:ln>
              <a:effectLst/>
            </c:spPr>
            <c:extLst>
              <c:ext xmlns:c16="http://schemas.microsoft.com/office/drawing/2014/chart" uri="{C3380CC4-5D6E-409C-BE32-E72D297353CC}">
                <c16:uniqueId val="{00000010-B14F-7545-866B-25EC5EAF861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22225">
                <a:noFill/>
                <a:prstDash val="dash"/>
              </a:ln>
              <a:effectLst/>
            </c:spPr>
            <c:extLst>
              <c:ext xmlns:c16="http://schemas.microsoft.com/office/drawing/2014/chart" uri="{C3380CC4-5D6E-409C-BE32-E72D297353CC}">
                <c16:uniqueId val="{00000011-B14F-7545-866B-25EC5EAF8617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 w="22225">
                <a:noFill/>
                <a:prstDash val="dash"/>
              </a:ln>
              <a:effectLst/>
            </c:spPr>
            <c:extLst>
              <c:ext xmlns:c16="http://schemas.microsoft.com/office/drawing/2014/chart" uri="{C3380CC4-5D6E-409C-BE32-E72D297353CC}">
                <c16:uniqueId val="{00000012-B14F-7545-866B-25EC5EAF8617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alpha val="10000"/>
                </a:schemeClr>
              </a:solidFill>
              <a:ln w="22225">
                <a:noFill/>
                <a:prstDash val="dash"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4F-7545-866B-25EC5EAF8617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alpha val="10000"/>
                </a:schemeClr>
              </a:solidFill>
              <a:ln w="22225">
                <a:noFill/>
                <a:prstDash val="dash"/>
              </a:ln>
              <a:effectLst/>
            </c:spPr>
            <c:extLst>
              <c:ext xmlns:c16="http://schemas.microsoft.com/office/drawing/2014/chart" uri="{C3380CC4-5D6E-409C-BE32-E72D297353CC}">
                <c16:uniqueId val="{00000003-B14F-7545-866B-25EC5EAF8617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1">
                  <a:alpha val="10000"/>
                </a:schemeClr>
              </a:solidFill>
              <a:ln w="22225">
                <a:noFill/>
                <a:prstDash val="dash"/>
              </a:ln>
              <a:effectLst/>
            </c:spPr>
            <c:extLst>
              <c:ext xmlns:c16="http://schemas.microsoft.com/office/drawing/2014/chart" uri="{C3380CC4-5D6E-409C-BE32-E72D297353CC}">
                <c16:uniqueId val="{00000005-B14F-7545-866B-25EC5EAF8617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1">
                  <a:alpha val="10000"/>
                </a:schemeClr>
              </a:solidFill>
              <a:ln w="22225">
                <a:noFill/>
                <a:prstDash val="dash"/>
              </a:ln>
              <a:effectLst/>
            </c:spPr>
            <c:extLst>
              <c:ext xmlns:c16="http://schemas.microsoft.com/office/drawing/2014/chart" uri="{C3380CC4-5D6E-409C-BE32-E72D297353CC}">
                <c16:uniqueId val="{00000007-B14F-7545-866B-25EC5EAF8617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1">
                  <a:alpha val="10000"/>
                </a:schemeClr>
              </a:solidFill>
              <a:ln w="22225">
                <a:noFill/>
                <a:prstDash val="dash"/>
              </a:ln>
              <a:effectLst/>
            </c:spPr>
            <c:extLst>
              <c:ext xmlns:c16="http://schemas.microsoft.com/office/drawing/2014/chart" uri="{C3380CC4-5D6E-409C-BE32-E72D297353CC}">
                <c16:uniqueId val="{00000009-B14F-7545-866B-25EC5EAF8617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1">
                  <a:alpha val="10000"/>
                </a:schemeClr>
              </a:solidFill>
              <a:ln w="22225">
                <a:noFill/>
                <a:prstDash val="dash"/>
              </a:ln>
              <a:effectLst/>
            </c:spPr>
            <c:extLst>
              <c:ext xmlns:c16="http://schemas.microsoft.com/office/drawing/2014/chart" uri="{C3380CC4-5D6E-409C-BE32-E72D297353CC}">
                <c16:uniqueId val="{0000000B-B14F-7545-866B-25EC5EAF8617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1">
                  <a:alpha val="10000"/>
                </a:schemeClr>
              </a:solidFill>
              <a:ln w="22225">
                <a:noFill/>
                <a:prstDash val="dash"/>
              </a:ln>
              <a:effectLst/>
            </c:spPr>
            <c:extLst>
              <c:ext xmlns:c16="http://schemas.microsoft.com/office/drawing/2014/chart" uri="{C3380CC4-5D6E-409C-BE32-E72D297353CC}">
                <c16:uniqueId val="{0000000D-B14F-7545-866B-25EC5EAF861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B14F-7545-866B-25EC5EAF861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B14F-7545-866B-25EC5EAF861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B14F-7545-866B-25EC5EAF861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B14F-7545-866B-25EC5EAF861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B14F-7545-866B-25EC5EAF8617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accen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B14F-7545-866B-25EC5EAF8617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accen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B14F-7545-866B-25EC5EAF8617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accen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B14F-7545-866B-25EC5EAF8617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accen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B14F-7545-866B-25EC5EAF8617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accen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B14F-7545-866B-25EC5EAF8617}"/>
                </c:ext>
              </c:extLst>
            </c:dLbl>
            <c:dLbl>
              <c:idx val="1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accen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B14F-7545-866B-25EC5EAF8617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accen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ja-JP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B14F-7545-866B-25EC5EAF86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0399D8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2024.1</c:v>
                </c:pt>
                <c:pt idx="1">
                  <c:v>2024.2</c:v>
                </c:pt>
                <c:pt idx="2">
                  <c:v>2024.3</c:v>
                </c:pt>
                <c:pt idx="3">
                  <c:v>2024.4</c:v>
                </c:pt>
                <c:pt idx="4">
                  <c:v>2024.5</c:v>
                </c:pt>
                <c:pt idx="5">
                  <c:v>2024.6</c:v>
                </c:pt>
                <c:pt idx="6">
                  <c:v>2024.7</c:v>
                </c:pt>
                <c:pt idx="7">
                  <c:v>2024.8</c:v>
                </c:pt>
                <c:pt idx="8">
                  <c:v>2024.9</c:v>
                </c:pt>
                <c:pt idx="9">
                  <c:v>2025</c:v>
                </c:pt>
                <c:pt idx="10">
                  <c:v>2025.1</c:v>
                </c:pt>
                <c:pt idx="11">
                  <c:v>2025.2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200</c:v>
                </c:pt>
                <c:pt idx="1">
                  <c:v>195</c:v>
                </c:pt>
                <c:pt idx="2">
                  <c:v>202</c:v>
                </c:pt>
                <c:pt idx="3">
                  <c:v>204</c:v>
                </c:pt>
                <c:pt idx="4">
                  <c:v>206</c:v>
                </c:pt>
                <c:pt idx="5">
                  <c:v>220</c:v>
                </c:pt>
                <c:pt idx="6">
                  <c:v>227</c:v>
                </c:pt>
                <c:pt idx="7">
                  <c:v>235</c:v>
                </c:pt>
                <c:pt idx="8">
                  <c:v>244</c:v>
                </c:pt>
                <c:pt idx="9">
                  <c:v>254</c:v>
                </c:pt>
                <c:pt idx="10">
                  <c:v>265</c:v>
                </c:pt>
                <c:pt idx="11">
                  <c:v>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B14F-7545-866B-25EC5EAF86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191072128"/>
        <c:axId val="11910738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CPA</c:v>
                </c:pt>
              </c:strCache>
            </c:strRef>
          </c:tx>
          <c:spPr>
            <a:ln w="412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1"/>
            <c:spPr>
              <a:solidFill>
                <a:schemeClr val="accent2"/>
              </a:solidFill>
              <a:ln w="9525">
                <a:noFill/>
              </a:ln>
              <a:effectLst/>
            </c:spPr>
          </c:marker>
          <c:dPt>
            <c:idx val="5"/>
            <c:marker>
              <c:symbol val="circle"/>
              <c:size val="11"/>
              <c:spPr>
                <a:solidFill>
                  <a:schemeClr val="accent2"/>
                </a:solidFill>
                <a:ln w="9525">
                  <a:noFill/>
                </a:ln>
                <a:effectLst/>
              </c:spPr>
            </c:marker>
            <c:bubble3D val="0"/>
            <c:spPr>
              <a:ln w="41275" cap="sq">
                <a:solidFill>
                  <a:schemeClr val="accent2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5-B14F-7545-866B-25EC5EAF8617}"/>
              </c:ext>
            </c:extLst>
          </c:dPt>
          <c:dPt>
            <c:idx val="6"/>
            <c:marker>
              <c:symbol val="circle"/>
              <c:size val="11"/>
              <c:spPr>
                <a:solidFill>
                  <a:schemeClr val="accent2"/>
                </a:solidFill>
                <a:ln w="9525">
                  <a:noFill/>
                </a:ln>
                <a:effectLst/>
              </c:spPr>
            </c:marker>
            <c:bubble3D val="0"/>
            <c:spPr>
              <a:ln w="41275" cap="sq">
                <a:solidFill>
                  <a:schemeClr val="accent2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7-B14F-7545-866B-25EC5EAF8617}"/>
              </c:ext>
            </c:extLst>
          </c:dPt>
          <c:dPt>
            <c:idx val="7"/>
            <c:marker>
              <c:symbol val="circle"/>
              <c:size val="11"/>
              <c:spPr>
                <a:solidFill>
                  <a:schemeClr val="accent2"/>
                </a:solidFill>
                <a:ln w="9525">
                  <a:noFill/>
                </a:ln>
                <a:effectLst/>
              </c:spPr>
            </c:marker>
            <c:bubble3D val="0"/>
            <c:spPr>
              <a:ln w="41275" cap="sq">
                <a:solidFill>
                  <a:schemeClr val="accent2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9-B14F-7545-866B-25EC5EAF8617}"/>
              </c:ext>
            </c:extLst>
          </c:dPt>
          <c:dPt>
            <c:idx val="8"/>
            <c:marker>
              <c:symbol val="circle"/>
              <c:size val="11"/>
              <c:spPr>
                <a:solidFill>
                  <a:schemeClr val="accent2"/>
                </a:solidFill>
                <a:ln w="9525">
                  <a:noFill/>
                </a:ln>
                <a:effectLst/>
              </c:spPr>
            </c:marker>
            <c:bubble3D val="0"/>
            <c:spPr>
              <a:ln w="41275" cap="sq">
                <a:solidFill>
                  <a:schemeClr val="accent2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B-B14F-7545-866B-25EC5EAF8617}"/>
              </c:ext>
            </c:extLst>
          </c:dPt>
          <c:dPt>
            <c:idx val="9"/>
            <c:marker>
              <c:symbol val="circle"/>
              <c:size val="11"/>
              <c:spPr>
                <a:solidFill>
                  <a:schemeClr val="accent2"/>
                </a:solidFill>
                <a:ln w="9525">
                  <a:noFill/>
                </a:ln>
                <a:effectLst/>
              </c:spPr>
            </c:marker>
            <c:bubble3D val="0"/>
            <c:spPr>
              <a:ln w="41275" cap="sq">
                <a:solidFill>
                  <a:schemeClr val="accent2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D-B14F-7545-866B-25EC5EAF8617}"/>
              </c:ext>
            </c:extLst>
          </c:dPt>
          <c:dPt>
            <c:idx val="10"/>
            <c:marker>
              <c:symbol val="circle"/>
              <c:size val="11"/>
              <c:spPr>
                <a:solidFill>
                  <a:schemeClr val="accent2"/>
                </a:solidFill>
                <a:ln w="9525">
                  <a:noFill/>
                </a:ln>
                <a:effectLst/>
              </c:spPr>
            </c:marker>
            <c:bubble3D val="0"/>
            <c:spPr>
              <a:ln w="41275" cap="sq">
                <a:solidFill>
                  <a:schemeClr val="accent2"/>
                </a:solidFill>
                <a:prstDash val="dash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1F-B14F-7545-866B-25EC5EAF8617}"/>
              </c:ext>
            </c:extLst>
          </c:dPt>
          <c:dPt>
            <c:idx val="11"/>
            <c:marker>
              <c:symbol val="circle"/>
              <c:size val="11"/>
              <c:spPr>
                <a:solidFill>
                  <a:schemeClr val="accent2"/>
                </a:solidFill>
                <a:ln w="9525">
                  <a:noFill/>
                </a:ln>
                <a:effectLst/>
              </c:spPr>
            </c:marker>
            <c:bubble3D val="0"/>
            <c:spPr>
              <a:ln w="41275" cap="sq">
                <a:solidFill>
                  <a:schemeClr val="accent2"/>
                </a:solidFill>
                <a:prstDash val="dash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21-B14F-7545-866B-25EC5EAF861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accent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2024.1</c:v>
                </c:pt>
                <c:pt idx="1">
                  <c:v>2024.2</c:v>
                </c:pt>
                <c:pt idx="2">
                  <c:v>2024.3</c:v>
                </c:pt>
                <c:pt idx="3">
                  <c:v>2024.4</c:v>
                </c:pt>
                <c:pt idx="4">
                  <c:v>2024.5</c:v>
                </c:pt>
                <c:pt idx="5">
                  <c:v>2024.6</c:v>
                </c:pt>
                <c:pt idx="6">
                  <c:v>2024.7</c:v>
                </c:pt>
                <c:pt idx="7">
                  <c:v>2024.8</c:v>
                </c:pt>
                <c:pt idx="8">
                  <c:v>2024.9</c:v>
                </c:pt>
                <c:pt idx="9">
                  <c:v>2025</c:v>
                </c:pt>
                <c:pt idx="10">
                  <c:v>2025.1</c:v>
                </c:pt>
                <c:pt idx="11">
                  <c:v>2025.2</c:v>
                </c:pt>
              </c:numCache>
            </c:numRef>
          </c:cat>
          <c:val>
            <c:numRef>
              <c:f>Sheet1!$C$2:$C$13</c:f>
              <c:numCache>
                <c:formatCode>[$¥-411]#,##0;[$¥-411]#,##0</c:formatCode>
                <c:ptCount val="12"/>
                <c:pt idx="0">
                  <c:v>15404</c:v>
                </c:pt>
                <c:pt idx="1">
                  <c:v>15600</c:v>
                </c:pt>
                <c:pt idx="2">
                  <c:v>15300</c:v>
                </c:pt>
                <c:pt idx="3">
                  <c:v>14980</c:v>
                </c:pt>
                <c:pt idx="4">
                  <c:v>15400</c:v>
                </c:pt>
                <c:pt idx="5">
                  <c:v>14500</c:v>
                </c:pt>
                <c:pt idx="6">
                  <c:v>14000</c:v>
                </c:pt>
                <c:pt idx="7">
                  <c:v>13500</c:v>
                </c:pt>
                <c:pt idx="8">
                  <c:v>13000</c:v>
                </c:pt>
                <c:pt idx="9">
                  <c:v>12500</c:v>
                </c:pt>
                <c:pt idx="10">
                  <c:v>12000</c:v>
                </c:pt>
                <c:pt idx="11">
                  <c:v>11850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2-B14F-7545-866B-25EC5EAF86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89004799"/>
        <c:axId val="1389267423"/>
      </c:lineChart>
      <c:catAx>
        <c:axId val="119107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91073840"/>
        <c:crosses val="autoZero"/>
        <c:auto val="1"/>
        <c:lblAlgn val="ctr"/>
        <c:lblOffset val="100"/>
        <c:noMultiLvlLbl val="0"/>
      </c:catAx>
      <c:valAx>
        <c:axId val="1191073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91072128"/>
        <c:crosses val="autoZero"/>
        <c:crossBetween val="between"/>
      </c:valAx>
      <c:valAx>
        <c:axId val="1389267423"/>
        <c:scaling>
          <c:orientation val="minMax"/>
        </c:scaling>
        <c:delete val="0"/>
        <c:axPos val="r"/>
        <c:numFmt formatCode="[$¥-411]#,##0;[$¥-411]#,##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389004799"/>
        <c:crosses val="max"/>
        <c:crossBetween val="between"/>
      </c:valAx>
      <c:catAx>
        <c:axId val="138900479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892674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</c:legendEntry>
      <c:layout>
        <c:manualLayout>
          <c:xMode val="edge"/>
          <c:yMode val="edge"/>
          <c:x val="9.8656285310316401E-3"/>
          <c:y val="5.6569151178531892E-3"/>
          <c:w val="0.21925247874725651"/>
          <c:h val="4.97749810178281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148CF595-DFFD-100E-13B0-3B2FB67CDB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4CE349E-450A-E185-6EA4-EBF70F06AE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863AC-AFCC-4A0B-85E6-139E370F1C9A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35F869A-C638-3A32-C9B8-3F6188EC87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BC5E68F-853C-A51B-D8B7-2F60B23B63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FE295-1A59-4134-8EA6-90E97A292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4217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A0E35-BEFE-5646-A9B4-54E70C972054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86D9F-C58A-1B4C-B433-93244E4B62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276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対角する 2 つの角を切り取った四角形 5">
            <a:extLst>
              <a:ext uri="{FF2B5EF4-FFF2-40B4-BE49-F238E27FC236}">
                <a16:creationId xmlns:a16="http://schemas.microsoft.com/office/drawing/2014/main" id="{FB0B90D9-B1A7-617E-87DB-58B9B5FBC9F5}"/>
              </a:ext>
            </a:extLst>
          </p:cNvPr>
          <p:cNvSpPr/>
          <p:nvPr userDrawn="1"/>
        </p:nvSpPr>
        <p:spPr>
          <a:xfrm flipH="1">
            <a:off x="256276" y="183696"/>
            <a:ext cx="11679449" cy="6490608"/>
          </a:xfrm>
          <a:prstGeom prst="snip2DiagRect">
            <a:avLst>
              <a:gd name="adj1" fmla="val 0"/>
              <a:gd name="adj2" fmla="val 82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フッター プレースホルダー 4">
            <a:extLst>
              <a:ext uri="{FF2B5EF4-FFF2-40B4-BE49-F238E27FC236}">
                <a16:creationId xmlns:a16="http://schemas.microsoft.com/office/drawing/2014/main" id="{D2EABC7D-9951-A9EB-F24C-C7C6B45F8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29438" y="6362585"/>
            <a:ext cx="2733121" cy="161583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ctr">
              <a:defRPr sz="1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" altLang="ja-JP" dirty="0"/>
              <a:t>© 2025 Company Name. All Right Reserved.</a:t>
            </a:r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9B825B25-9DF2-C399-6B67-D65E0794C2C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83202" y="2451748"/>
            <a:ext cx="7591822" cy="502573"/>
          </a:xfrm>
        </p:spPr>
        <p:txBody>
          <a:bodyPr wrap="none" lIns="0" tIns="0" rIns="0" bIns="0" anchor="b" anchorCtr="0">
            <a:spAutoFit/>
          </a:bodyPr>
          <a:lstStyle>
            <a:lvl1pPr marL="0" indent="0">
              <a:buNone/>
              <a:defRPr sz="3600" b="1" i="0" spc="100" baseline="0">
                <a:solidFill>
                  <a:schemeClr val="tx1"/>
                </a:solidFill>
                <a:latin typeface="Arial" panose="020B0604020202020204" pitchFamily="34" charset="0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スライドタイトルがここに入ります</a:t>
            </a:r>
          </a:p>
        </p:txBody>
      </p:sp>
      <p:sp>
        <p:nvSpPr>
          <p:cNvPr id="11" name="タイトル 10">
            <a:extLst>
              <a:ext uri="{FF2B5EF4-FFF2-40B4-BE49-F238E27FC236}">
                <a16:creationId xmlns:a16="http://schemas.microsoft.com/office/drawing/2014/main" id="{C518ED0A-BAAC-7FE6-7798-79D3857DFD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3202" y="3152001"/>
            <a:ext cx="3770263" cy="276999"/>
          </a:xfrm>
        </p:spPr>
        <p:txBody>
          <a:bodyPr wrap="none" lIns="0" tIns="0" rIns="0" bIns="0" anchor="t" anchorCtr="0">
            <a:spAutoFit/>
          </a:bodyPr>
          <a:lstStyle>
            <a:lvl1pPr>
              <a:defRPr sz="2000" b="0" baseline="0"/>
            </a:lvl1pPr>
          </a:lstStyle>
          <a:p>
            <a:r>
              <a:rPr kumimoji="1" lang="ja-JP" altLang="en-US"/>
              <a:t>サブタイトルがここに入ります</a:t>
            </a:r>
          </a:p>
        </p:txBody>
      </p:sp>
    </p:spTree>
    <p:extLst>
      <p:ext uri="{BB962C8B-B14F-4D97-AF65-F5344CB8AC3E}">
        <p14:creationId xmlns:p14="http://schemas.microsoft.com/office/powerpoint/2010/main" val="2991827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対角する 2 つの角を切り取った四角形 5">
            <a:extLst>
              <a:ext uri="{FF2B5EF4-FFF2-40B4-BE49-F238E27FC236}">
                <a16:creationId xmlns:a16="http://schemas.microsoft.com/office/drawing/2014/main" id="{FB0B90D9-B1A7-617E-87DB-58B9B5FBC9F5}"/>
              </a:ext>
            </a:extLst>
          </p:cNvPr>
          <p:cNvSpPr/>
          <p:nvPr userDrawn="1"/>
        </p:nvSpPr>
        <p:spPr>
          <a:xfrm flipH="1">
            <a:off x="256276" y="183696"/>
            <a:ext cx="11679449" cy="6490608"/>
          </a:xfrm>
          <a:prstGeom prst="snip2DiagRect">
            <a:avLst>
              <a:gd name="adj1" fmla="val 0"/>
              <a:gd name="adj2" fmla="val 82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フッター プレースホルダー 4">
            <a:extLst>
              <a:ext uri="{FF2B5EF4-FFF2-40B4-BE49-F238E27FC236}">
                <a16:creationId xmlns:a16="http://schemas.microsoft.com/office/drawing/2014/main" id="{D2EABC7D-9951-A9EB-F24C-C7C6B45F8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29438" y="6362585"/>
            <a:ext cx="2733121" cy="161583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ctr">
              <a:defRPr sz="1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" altLang="ja-JP" dirty="0"/>
              <a:t>© 2025 Company Name. All Right Reserved.</a:t>
            </a:r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9B825B25-9DF2-C399-6B67-D65E0794C2C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44021" y="3082708"/>
            <a:ext cx="2359620" cy="443198"/>
          </a:xfrm>
        </p:spPr>
        <p:txBody>
          <a:bodyPr wrap="none" lIns="0" tIns="0" rIns="0" bIns="0" anchor="b" anchorCtr="0">
            <a:spAutoFit/>
          </a:bodyPr>
          <a:lstStyle>
            <a:lvl1pPr marL="0" indent="0">
              <a:buNone/>
              <a:defRPr sz="3200" b="0" i="0" spc="100" baseline="0">
                <a:solidFill>
                  <a:schemeClr val="accent1"/>
                </a:solidFill>
                <a:latin typeface="Arial" panose="020B0604020202020204" pitchFamily="34" charset="0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CONTENTS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7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8">
            <a:extLst>
              <a:ext uri="{FF2B5EF4-FFF2-40B4-BE49-F238E27FC236}">
                <a16:creationId xmlns:a16="http://schemas.microsoft.com/office/drawing/2014/main" id="{1F564975-C991-F85B-8B9D-BF264F7EC1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4646" y="1109400"/>
            <a:ext cx="9618018" cy="793038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スライドメッセージが入ります。スライドメッセージが入ります。</a:t>
            </a:r>
            <a:endParaRPr kumimoji="1" lang="en-US" altLang="ja-JP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スライドメッセージが入ります。スライドメッセージが入ります。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8B81E90-7666-A35E-4856-89304E82C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454" y="6659485"/>
            <a:ext cx="2340384" cy="138499"/>
          </a:xfrm>
        </p:spPr>
        <p:txBody>
          <a:bodyPr wrap="none" lIns="0" tIns="0" rIns="0" bIns="0">
            <a:spAutoFit/>
          </a:bodyPr>
          <a:lstStyle>
            <a:lvl1pPr algn="l">
              <a:defRPr sz="900"/>
            </a:lvl1pPr>
          </a:lstStyle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D2C953-7A81-AB1C-DA30-FD8981F34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5674" y="6464778"/>
            <a:ext cx="568569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3B885C3E-5C69-C74B-88D2-3CD82C73D52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DF4A89-AB68-CF4F-E839-1998EE505907}"/>
              </a:ext>
            </a:extLst>
          </p:cNvPr>
          <p:cNvSpPr txBox="1"/>
          <p:nvPr userDrawn="1"/>
        </p:nvSpPr>
        <p:spPr>
          <a:xfrm>
            <a:off x="10711733" y="24135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i="1" spc="100" dirty="0">
                <a:solidFill>
                  <a:schemeClr val="accent1"/>
                </a:solidFill>
                <a:latin typeface="Avenir Black Oblique" panose="02000503020000020003" pitchFamily="2" charset="0"/>
                <a:cs typeface="Arial" panose="020B0604020202020204" pitchFamily="34" charset="0"/>
              </a:rPr>
              <a:t>LOGO</a:t>
            </a:r>
            <a:endParaRPr lang="en-US" altLang="ja-JP" sz="2400" i="1" spc="100" dirty="0">
              <a:solidFill>
                <a:schemeClr val="accent1"/>
              </a:solidFill>
              <a:latin typeface="Avenir Black Oblique" panose="02000503020000020003" pitchFamily="2" charset="0"/>
            </a:endParaRPr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4E1D082E-512A-47CC-9A78-87637DB2809C}"/>
              </a:ext>
            </a:extLst>
          </p:cNvPr>
          <p:cNvSpPr/>
          <p:nvPr userDrawn="1"/>
        </p:nvSpPr>
        <p:spPr>
          <a:xfrm>
            <a:off x="363664" y="288873"/>
            <a:ext cx="355353" cy="355353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kumimoji="1" lang="ja-JP" altLang="en-US" sz="1600">
              <a:solidFill>
                <a:srgbClr val="0399D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0B09DC5-331F-8419-D222-47E9AC3FA910}"/>
              </a:ext>
            </a:extLst>
          </p:cNvPr>
          <p:cNvCxnSpPr>
            <a:cxnSpLocks/>
            <a:endCxn id="6" idx="2"/>
          </p:cNvCxnSpPr>
          <p:nvPr userDrawn="1"/>
        </p:nvCxnSpPr>
        <p:spPr>
          <a:xfrm>
            <a:off x="-113869" y="466550"/>
            <a:ext cx="477533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4400E601-814F-F057-E255-CE491D1FDD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197" y="366204"/>
            <a:ext cx="1949252" cy="249299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10" name="テキスト プレースホルダー 8">
            <a:extLst>
              <a:ext uri="{FF2B5EF4-FFF2-40B4-BE49-F238E27FC236}">
                <a16:creationId xmlns:a16="http://schemas.microsoft.com/office/drawing/2014/main" id="{A3902C80-A825-14AB-F754-B88C4A0301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137" y="363705"/>
            <a:ext cx="227626" cy="221599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16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 dirty="0"/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6003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のみ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154056BC-EE02-3494-1256-7C4BE2502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573" y="6517995"/>
            <a:ext cx="2616422" cy="253916"/>
          </a:xfrm>
        </p:spPr>
        <p:txBody>
          <a:bodyPr wrap="none">
            <a:spAutoFit/>
          </a:bodyPr>
          <a:lstStyle>
            <a:lvl1pPr>
              <a:defRPr sz="1050" spc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ja-JP"/>
              <a:t>©ABC Company ,inc.All Right Reserved.</a:t>
            </a:r>
            <a:endParaRPr lang="en-US" altLang="ja-JP" dirty="0"/>
          </a:p>
        </p:txBody>
      </p:sp>
      <p:sp>
        <p:nvSpPr>
          <p:cNvPr id="6" name="スライド番号プレースホルダー 4">
            <a:extLst>
              <a:ext uri="{FF2B5EF4-FFF2-40B4-BE49-F238E27FC236}">
                <a16:creationId xmlns:a16="http://schemas.microsoft.com/office/drawing/2014/main" id="{ED1BAF05-CB7F-76F6-66A1-87715316F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3488" y="6450033"/>
            <a:ext cx="554438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CEB0053-78DC-4468-8DE1-846732F5C9C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69571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2A4F301-8F18-E037-0315-4BCC71548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3207"/>
            <a:ext cx="7671972" cy="60939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E2B0BA-59EA-E692-1419-65A79814E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FA4651-D215-CE97-D891-80A2F0AE4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4D0C91-8586-6CD5-F812-2EC333406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1" lang="en" altLang="ja-JP" dirty="0"/>
              <a:t>© 2025 Company Name. All Right Reserved.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28D3F3-C140-FBDE-AAC1-BE19251D8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885C3E-5C69-C74B-88D2-3CD82C73D5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181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4" r:id="rId2"/>
    <p:sldLayoutId id="2147483655" r:id="rId3"/>
    <p:sldLayoutId id="2147483657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 spc="100" baseline="0">
          <a:solidFill>
            <a:schemeClr val="tx1"/>
          </a:solidFill>
          <a:latin typeface="Arial" panose="020B0604020202020204" pitchFamily="34" charset="0"/>
          <a:ea typeface="游ゴシック" panose="020B04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 spc="100" baseline="0">
          <a:solidFill>
            <a:schemeClr val="tx1"/>
          </a:solidFill>
          <a:latin typeface="Arial" panose="020B0604020202020204" pitchFamily="34" charset="0"/>
          <a:ea typeface="游ゴシック" panose="020B04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 spc="100" baseline="0">
          <a:solidFill>
            <a:schemeClr val="tx1"/>
          </a:solidFill>
          <a:latin typeface="Arial" panose="020B0604020202020204" pitchFamily="34" charset="0"/>
          <a:ea typeface="游ゴシック" panose="020B04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 spc="100" baseline="0">
          <a:solidFill>
            <a:schemeClr val="tx1"/>
          </a:solidFill>
          <a:latin typeface="Arial" panose="020B0604020202020204" pitchFamily="34" charset="0"/>
          <a:ea typeface="游ゴシック" panose="020B04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 spc="100" baseline="0">
          <a:solidFill>
            <a:schemeClr val="tx1"/>
          </a:solidFill>
          <a:latin typeface="Arial" panose="020B0604020202020204" pitchFamily="34" charset="0"/>
          <a:ea typeface="游ゴシック" panose="020B04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 spc="100" baseline="0">
          <a:solidFill>
            <a:schemeClr val="tx1"/>
          </a:solidFill>
          <a:latin typeface="Arial" panose="020B0604020202020204" pitchFamily="34" charset="0"/>
          <a:ea typeface="游ゴシック" panose="020B04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060C-8F6A-FCB5-6A99-54B49A74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8E75485-4D1B-A408-50BD-4904EEA88E25}"/>
              </a:ext>
            </a:extLst>
          </p:cNvPr>
          <p:cNvSpPr txBox="1"/>
          <p:nvPr/>
        </p:nvSpPr>
        <p:spPr>
          <a:xfrm>
            <a:off x="568614" y="531907"/>
            <a:ext cx="822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spc="100" dirty="0">
                <a:solidFill>
                  <a:srgbClr val="C94C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【</a:t>
            </a:r>
            <a:r>
              <a:rPr lang="ja-JP" altLang="en-US" b="1" spc="100">
                <a:solidFill>
                  <a:srgbClr val="C94C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はじめに</a:t>
            </a:r>
            <a:r>
              <a:rPr lang="en-US" altLang="ja-JP" b="1" spc="100" dirty="0">
                <a:solidFill>
                  <a:srgbClr val="C94C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】</a:t>
            </a:r>
            <a:r>
              <a:rPr lang="ja-JP" altLang="en-US" b="1" spc="100">
                <a:solidFill>
                  <a:srgbClr val="C94C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以下の内容を必ず確認の上、ご利用をお願いいたします。</a:t>
            </a:r>
            <a:endParaRPr lang="en-US" altLang="ja-JP" b="1" spc="100" dirty="0">
              <a:solidFill>
                <a:srgbClr val="C94C3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F8DFF5E-23AC-2C57-9799-23F3179543A4}"/>
              </a:ext>
            </a:extLst>
          </p:cNvPr>
          <p:cNvSpPr txBox="1"/>
          <p:nvPr/>
        </p:nvSpPr>
        <p:spPr>
          <a:xfrm>
            <a:off x="797480" y="1188758"/>
            <a:ext cx="10357852" cy="4768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spcAft>
                <a:spcPts val="1800"/>
              </a:spcAft>
              <a:buFont typeface="Wingdings" pitchFamily="2" charset="2"/>
              <a:buChar char="l"/>
            </a:pPr>
            <a:r>
              <a:rPr lang="ja-JP" altLang="en-US" sz="1100" spc="100">
                <a:latin typeface="Arial" panose="020B0604020202020204" pitchFamily="34" charset="0"/>
                <a:cs typeface="Arial" panose="020B0604020202020204" pitchFamily="34" charset="0"/>
              </a:rPr>
              <a:t>購入者は本テンプレートを商用利用を含め、自由に利用することができますが、使用・改変・再配布をし使用者が不利益を被った際、当方は一切の責任を負いません。</a:t>
            </a:r>
            <a:endParaRPr lang="en-US" altLang="ja-JP" sz="1100" spc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spcAft>
                <a:spcPts val="1800"/>
              </a:spcAft>
              <a:buFont typeface="Wingdings" pitchFamily="2" charset="2"/>
              <a:buChar char="l"/>
            </a:pPr>
            <a:r>
              <a:rPr lang="ja-JP" altLang="en-US" sz="1100" spc="100">
                <a:latin typeface="Arial" panose="020B0604020202020204" pitchFamily="34" charset="0"/>
                <a:cs typeface="Arial" panose="020B0604020202020204" pitchFamily="34" charset="0"/>
              </a:rPr>
              <a:t>アイコンはパワーポイント内蔵のものを使用しています。必要に応じて、挿入タブ</a:t>
            </a:r>
            <a:r>
              <a:rPr lang="en-US" altLang="ja-JP" sz="1100" spc="1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ja-JP" altLang="en-US" sz="1100" spc="100">
                <a:latin typeface="Arial" panose="020B0604020202020204" pitchFamily="34" charset="0"/>
                <a:cs typeface="Arial" panose="020B0604020202020204" pitchFamily="34" charset="0"/>
              </a:rPr>
              <a:t>アイコンから差し替えてご利用ください。</a:t>
            </a:r>
            <a:endParaRPr lang="en-US" altLang="ja-JP" sz="1100" spc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spcAft>
                <a:spcPts val="1800"/>
              </a:spcAft>
              <a:buFont typeface="Wingdings" pitchFamily="2" charset="2"/>
              <a:buChar char="l"/>
            </a:pPr>
            <a:r>
              <a:rPr lang="ja-JP" altLang="en-US" sz="1100" spc="100">
                <a:latin typeface="Arial" panose="020B0604020202020204" pitchFamily="34" charset="0"/>
                <a:cs typeface="Arial" panose="020B0604020202020204" pitchFamily="34" charset="0"/>
              </a:rPr>
              <a:t>テンプレート内で使用している一部の素材は、</a:t>
            </a:r>
            <a:r>
              <a:rPr lang="en" altLang="ja-JP" sz="1100" spc="100" dirty="0">
                <a:latin typeface="Arial" panose="020B0604020202020204" pitchFamily="34" charset="0"/>
                <a:cs typeface="Arial" panose="020B0604020202020204" pitchFamily="34" charset="0"/>
              </a:rPr>
              <a:t>Adobe Stock</a:t>
            </a:r>
            <a:r>
              <a:rPr lang="ja-JP" altLang="en-US" sz="1100" spc="100">
                <a:latin typeface="Arial" panose="020B0604020202020204" pitchFamily="34" charset="0"/>
                <a:cs typeface="Arial" panose="020B0604020202020204" pitchFamily="34" charset="0"/>
              </a:rPr>
              <a:t>の拡張ライセンスを取得し、承認を得た上で使用しています。</a:t>
            </a:r>
            <a:endParaRPr lang="en-US" altLang="ja-JP" sz="1100" spc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spcAft>
                <a:spcPts val="1800"/>
              </a:spcAft>
              <a:buFont typeface="Wingdings" pitchFamily="2" charset="2"/>
              <a:buChar char="l"/>
            </a:pPr>
            <a:r>
              <a:rPr lang="ja-JP" altLang="en-US" sz="1100" spc="100">
                <a:latin typeface="Arial" panose="020B0604020202020204" pitchFamily="34" charset="0"/>
                <a:cs typeface="Arial" panose="020B0604020202020204" pitchFamily="34" charset="0"/>
              </a:rPr>
              <a:t>一部の画像は、</a:t>
            </a:r>
            <a:r>
              <a:rPr lang="en" altLang="ja-JP" sz="1100" spc="100" dirty="0">
                <a:latin typeface="Arial" panose="020B0604020202020204" pitchFamily="34" charset="0"/>
                <a:cs typeface="Arial" panose="020B0604020202020204" pitchFamily="34" charset="0"/>
              </a:rPr>
              <a:t>Midjourney</a:t>
            </a:r>
            <a:r>
              <a:rPr lang="ja-JP" altLang="en-US" sz="1100" spc="100">
                <a:latin typeface="Arial" panose="020B0604020202020204" pitchFamily="34" charset="0"/>
                <a:cs typeface="Arial" panose="020B0604020202020204" pitchFamily="34" charset="0"/>
              </a:rPr>
              <a:t>の有料プランで生成されたものです。利用や改変、再配布の際にご連絡いただく必要はありませんが、</a:t>
            </a:r>
            <a:br>
              <a:rPr lang="en-US" altLang="ja-JP" sz="1100" spc="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ja-JP" altLang="en-US" sz="1100" spc="100">
                <a:latin typeface="Arial" panose="020B0604020202020204" pitchFamily="34" charset="0"/>
                <a:cs typeface="Arial" panose="020B0604020202020204" pitchFamily="34" charset="0"/>
              </a:rPr>
              <a:t>ご利用により生じた不利益について、当方は一切責任を負いかねます。利用者自身の責任でお使いください。</a:t>
            </a:r>
          </a:p>
          <a:p>
            <a:pPr marL="285750" indent="-285750">
              <a:lnSpc>
                <a:spcPct val="110000"/>
              </a:lnSpc>
              <a:spcAft>
                <a:spcPts val="1800"/>
              </a:spcAft>
              <a:buFont typeface="Wingdings" pitchFamily="2" charset="2"/>
              <a:buChar char="l"/>
            </a:pPr>
            <a:r>
              <a:rPr lang="ja-JP" altLang="en-US" sz="1100" spc="100">
                <a:latin typeface="Arial" panose="020B0604020202020204" pitchFamily="34" charset="0"/>
                <a:cs typeface="Arial" panose="020B0604020202020204" pitchFamily="34" charset="0"/>
              </a:rPr>
              <a:t>テンプレート内に記載されているサービス、商品、数値などは架空のものであり、実在するものではありません。</a:t>
            </a:r>
            <a:endParaRPr lang="en-US" altLang="ja-JP" sz="1100" spc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spcAft>
                <a:spcPts val="1800"/>
              </a:spcAft>
              <a:buFont typeface="Wingdings" pitchFamily="2" charset="2"/>
              <a:buChar char="l"/>
            </a:pPr>
            <a:r>
              <a:rPr lang="ja-JP" altLang="en-US" sz="1100" spc="100"/>
              <a:t>以下の行為は禁止いたします。発覚した場合には法的措置を講じる可能性があります。</a:t>
            </a:r>
          </a:p>
          <a:p>
            <a:pPr marL="742950" lvl="1" indent="-285750">
              <a:lnSpc>
                <a:spcPct val="110000"/>
              </a:lnSpc>
              <a:spcAft>
                <a:spcPts val="1800"/>
              </a:spcAft>
              <a:buFont typeface="Wingdings" pitchFamily="2" charset="2"/>
              <a:buChar char="l"/>
            </a:pPr>
            <a:r>
              <a:rPr lang="ja-JP" altLang="en-US" sz="1100" spc="100"/>
              <a:t>本テンプレートを第三者に無断で配布・販売する行為。</a:t>
            </a:r>
          </a:p>
          <a:p>
            <a:pPr marL="742950" lvl="1" indent="-285750">
              <a:lnSpc>
                <a:spcPct val="110000"/>
              </a:lnSpc>
              <a:spcAft>
                <a:spcPts val="1800"/>
              </a:spcAft>
              <a:buFont typeface="Wingdings" pitchFamily="2" charset="2"/>
              <a:buChar char="l"/>
            </a:pPr>
            <a:r>
              <a:rPr lang="ja-JP" altLang="en-US" sz="1100" spc="100"/>
              <a:t>所属企業や団体内でテンプレートを組織内メンバーに再配布する行為。 </a:t>
            </a:r>
            <a:r>
              <a:rPr lang="en-US" altLang="ja-JP" sz="1100" spc="100" dirty="0"/>
              <a:t>※</a:t>
            </a:r>
            <a:r>
              <a:rPr lang="ja-JP" altLang="en-US" sz="1100" spc="100"/>
              <a:t>ただし、本テンプレートを使用して作成したスライドデータを社内外で活用することは問題ありません。テンプレートそのものの再配布はお控えください。</a:t>
            </a:r>
          </a:p>
          <a:p>
            <a:pPr marL="742950" lvl="1" indent="-285750">
              <a:lnSpc>
                <a:spcPct val="110000"/>
              </a:lnSpc>
              <a:spcAft>
                <a:spcPts val="1800"/>
              </a:spcAft>
              <a:buFont typeface="Wingdings" pitchFamily="2" charset="2"/>
              <a:buChar char="l"/>
            </a:pPr>
            <a:r>
              <a:rPr lang="ja-JP" altLang="en-US" sz="1100" spc="100"/>
              <a:t>本テンプレートを購入者自身の制作物として</a:t>
            </a:r>
            <a:r>
              <a:rPr lang="en-US" altLang="ja-JP" sz="1100" spc="100" dirty="0"/>
              <a:t>Web</a:t>
            </a:r>
            <a:r>
              <a:rPr lang="ja-JP" altLang="en-US" sz="1100" spc="100"/>
              <a:t>サイト、</a:t>
            </a:r>
            <a:r>
              <a:rPr lang="en-US" altLang="ja-JP" sz="1100" spc="100" dirty="0"/>
              <a:t>SNS</a:t>
            </a:r>
            <a:r>
              <a:rPr lang="ja-JP" altLang="en-US" sz="1100" spc="100"/>
              <a:t>、ポートフォリオ等に掲載する行為。</a:t>
            </a:r>
          </a:p>
          <a:p>
            <a:pPr marL="742950" lvl="1" indent="-285750">
              <a:lnSpc>
                <a:spcPct val="110000"/>
              </a:lnSpc>
              <a:spcAft>
                <a:spcPts val="1800"/>
              </a:spcAft>
              <a:buFont typeface="Wingdings" pitchFamily="2" charset="2"/>
              <a:buChar char="l"/>
            </a:pPr>
            <a:r>
              <a:rPr lang="ja-JP" altLang="en-US" sz="1100" spc="100"/>
              <a:t>本テンプレートや本テンプレートを使用して製作したスライドを購入者自身の制作物として</a:t>
            </a:r>
            <a:r>
              <a:rPr lang="en" altLang="ja-JP" sz="1100" spc="100" dirty="0"/>
              <a:t>Web</a:t>
            </a:r>
            <a:r>
              <a:rPr lang="ja-JP" altLang="en-US" sz="1100" spc="100"/>
              <a:t>サイト、</a:t>
            </a:r>
            <a:r>
              <a:rPr lang="en" altLang="ja-JP" sz="1100" spc="100" dirty="0"/>
              <a:t>SNS</a:t>
            </a:r>
            <a:r>
              <a:rPr lang="ja-JP" altLang="en" sz="1100" spc="100"/>
              <a:t>、</a:t>
            </a:r>
            <a:r>
              <a:rPr lang="ja-JP" altLang="en-US" sz="1100" spc="100"/>
              <a:t>ポートフォリオ等に掲載する行為</a:t>
            </a:r>
            <a:endParaRPr lang="en-US" altLang="ja-JP" sz="1100" spc="1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6528F87-1ED8-0049-14FC-7D05DF950E75}"/>
              </a:ext>
            </a:extLst>
          </p:cNvPr>
          <p:cNvSpPr txBox="1"/>
          <p:nvPr/>
        </p:nvSpPr>
        <p:spPr>
          <a:xfrm>
            <a:off x="797480" y="6214964"/>
            <a:ext cx="10357852" cy="270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ja-JP" altLang="en-US" sz="1100" spc="100"/>
              <a:t>その他、不明点がございましたら </a:t>
            </a:r>
            <a:r>
              <a:rPr lang="en-US" altLang="ja-JP" sz="1100" spc="100" dirty="0" err="1"/>
              <a:t>info@emocri.net</a:t>
            </a:r>
            <a:r>
              <a:rPr lang="en-US" altLang="ja-JP" sz="1100" spc="100" dirty="0"/>
              <a:t> </a:t>
            </a:r>
            <a:r>
              <a:rPr lang="ja-JP" altLang="en-US" sz="1100" spc="100"/>
              <a:t>までご連絡ください。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29118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9E521479-70AF-55BA-DE5B-C888F9C03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52" b="56331"/>
          <a:stretch/>
        </p:blipFill>
        <p:spPr>
          <a:xfrm>
            <a:off x="355152" y="4034640"/>
            <a:ext cx="4954602" cy="132225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9" name="図 8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255CBFDF-11C1-3D6F-7D3D-6B061A9C60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52"/>
          <a:stretch/>
        </p:blipFill>
        <p:spPr>
          <a:xfrm>
            <a:off x="6882247" y="1429540"/>
            <a:ext cx="3897764" cy="48948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1" name="図 10" descr="グラフィカル ユーザー インターフェイス, アプリケーション, Word&#10;&#10;自動的に生成された説明">
            <a:extLst>
              <a:ext uri="{FF2B5EF4-FFF2-40B4-BE49-F238E27FC236}">
                <a16:creationId xmlns:a16="http://schemas.microsoft.com/office/drawing/2014/main" id="{308EADAF-3339-7419-6325-4EDB1461CA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53" y="1429540"/>
            <a:ext cx="4954602" cy="146615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88F1DA7-3A5E-1E29-0E67-AC6EF0419E02}"/>
              </a:ext>
            </a:extLst>
          </p:cNvPr>
          <p:cNvSpPr txBox="1"/>
          <p:nvPr/>
        </p:nvSpPr>
        <p:spPr>
          <a:xfrm>
            <a:off x="355153" y="22151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333333"/>
                </a:solidFill>
              </a:rPr>
              <a:t>色変更の方法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4735731-2188-18C6-A441-2762B6FAE69E}"/>
              </a:ext>
            </a:extLst>
          </p:cNvPr>
          <p:cNvCxnSpPr/>
          <p:nvPr/>
        </p:nvCxnSpPr>
        <p:spPr>
          <a:xfrm>
            <a:off x="355153" y="611060"/>
            <a:ext cx="11264761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85B67A7-196D-8A85-DCA5-71D5D2623E39}"/>
              </a:ext>
            </a:extLst>
          </p:cNvPr>
          <p:cNvSpPr txBox="1"/>
          <p:nvPr/>
        </p:nvSpPr>
        <p:spPr>
          <a:xfrm>
            <a:off x="388816" y="1072965"/>
            <a:ext cx="387926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ja-JP" sz="1600" b="1" dirty="0">
                <a:solidFill>
                  <a:srgbClr val="333333"/>
                </a:solidFill>
              </a:rPr>
              <a:t>❶ [</a:t>
            </a:r>
            <a:r>
              <a:rPr kumimoji="1" lang="ja-JP" altLang="en-US" sz="1600" b="1">
                <a:solidFill>
                  <a:srgbClr val="333333"/>
                </a:solidFill>
              </a:rPr>
              <a:t>表示</a:t>
            </a:r>
            <a:r>
              <a:rPr kumimoji="1" lang="en-US" altLang="ja-JP" sz="1600" b="1" dirty="0">
                <a:solidFill>
                  <a:srgbClr val="333333"/>
                </a:solidFill>
              </a:rPr>
              <a:t>]</a:t>
            </a:r>
            <a:r>
              <a:rPr kumimoji="1" lang="ja-JP" altLang="en-US" sz="1600" b="1">
                <a:solidFill>
                  <a:srgbClr val="333333"/>
                </a:solidFill>
              </a:rPr>
              <a:t>タブ</a:t>
            </a:r>
            <a:r>
              <a:rPr kumimoji="1" lang="en-US" altLang="ja-JP" sz="1600" b="1" dirty="0">
                <a:solidFill>
                  <a:srgbClr val="333333"/>
                </a:solidFill>
              </a:rPr>
              <a:t>→ [</a:t>
            </a:r>
            <a:r>
              <a:rPr kumimoji="1" lang="ja-JP" altLang="en-US" sz="1600" b="1">
                <a:solidFill>
                  <a:srgbClr val="333333"/>
                </a:solidFill>
              </a:rPr>
              <a:t>スライドマスター</a:t>
            </a:r>
            <a:r>
              <a:rPr kumimoji="1" lang="en-US" altLang="ja-JP" sz="1600" b="1" dirty="0">
                <a:solidFill>
                  <a:srgbClr val="333333"/>
                </a:solidFill>
              </a:rPr>
              <a:t>]</a:t>
            </a:r>
            <a:r>
              <a:rPr kumimoji="1" lang="ja-JP" altLang="en-US" sz="1600" b="1">
                <a:solidFill>
                  <a:srgbClr val="333333"/>
                </a:solidFill>
              </a:rPr>
              <a:t>を選択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B8A3CC7-A761-1B6A-677E-28764B96F897}"/>
              </a:ext>
            </a:extLst>
          </p:cNvPr>
          <p:cNvSpPr txBox="1"/>
          <p:nvPr/>
        </p:nvSpPr>
        <p:spPr>
          <a:xfrm>
            <a:off x="388816" y="3648000"/>
            <a:ext cx="204222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ja-JP" sz="1600" b="1" dirty="0">
                <a:solidFill>
                  <a:srgbClr val="333333"/>
                </a:solidFill>
              </a:rPr>
              <a:t>❷ [</a:t>
            </a:r>
            <a:r>
              <a:rPr kumimoji="1" lang="ja-JP" altLang="en-US" sz="1600" b="1">
                <a:solidFill>
                  <a:srgbClr val="333333"/>
                </a:solidFill>
              </a:rPr>
              <a:t>配色</a:t>
            </a:r>
            <a:r>
              <a:rPr kumimoji="1" lang="en-US" altLang="ja-JP" sz="1600" b="1" dirty="0">
                <a:solidFill>
                  <a:srgbClr val="333333"/>
                </a:solidFill>
              </a:rPr>
              <a:t>]</a:t>
            </a:r>
            <a:r>
              <a:rPr kumimoji="1" lang="ja-JP" altLang="en-US" sz="1600" b="1">
                <a:solidFill>
                  <a:srgbClr val="333333"/>
                </a:solidFill>
              </a:rPr>
              <a:t>を選択を選択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C8B3249-8E10-31B4-E375-CD82A46B2F28}"/>
              </a:ext>
            </a:extLst>
          </p:cNvPr>
          <p:cNvSpPr/>
          <p:nvPr/>
        </p:nvSpPr>
        <p:spPr>
          <a:xfrm>
            <a:off x="4317299" y="1436326"/>
            <a:ext cx="332420" cy="2050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AD0C481-BE81-A0C6-1D3F-EF4A5A070B1F}"/>
              </a:ext>
            </a:extLst>
          </p:cNvPr>
          <p:cNvSpPr/>
          <p:nvPr/>
        </p:nvSpPr>
        <p:spPr>
          <a:xfrm>
            <a:off x="2068170" y="1632550"/>
            <a:ext cx="332420" cy="5023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A4DCB28-0713-C912-B472-7BBFA9F0281A}"/>
              </a:ext>
            </a:extLst>
          </p:cNvPr>
          <p:cNvSpPr/>
          <p:nvPr/>
        </p:nvSpPr>
        <p:spPr>
          <a:xfrm>
            <a:off x="3694471" y="4245894"/>
            <a:ext cx="442451" cy="2050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D25C600-96FC-E2E2-BF98-79F6C59BA2CA}"/>
              </a:ext>
            </a:extLst>
          </p:cNvPr>
          <p:cNvSpPr txBox="1"/>
          <p:nvPr/>
        </p:nvSpPr>
        <p:spPr>
          <a:xfrm>
            <a:off x="6882247" y="1072965"/>
            <a:ext cx="265777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ja-JP" sz="1600" b="1" dirty="0">
                <a:solidFill>
                  <a:srgbClr val="333333"/>
                </a:solidFill>
              </a:rPr>
              <a:t>❸ [</a:t>
            </a:r>
            <a:r>
              <a:rPr kumimoji="1" lang="ja-JP" altLang="en-US" sz="1600" b="1">
                <a:solidFill>
                  <a:srgbClr val="333333"/>
                </a:solidFill>
              </a:rPr>
              <a:t>色のカスタマイズ</a:t>
            </a:r>
            <a:r>
              <a:rPr kumimoji="1" lang="en-US" altLang="ja-JP" sz="1600" b="1" dirty="0">
                <a:solidFill>
                  <a:srgbClr val="333333"/>
                </a:solidFill>
              </a:rPr>
              <a:t>]</a:t>
            </a:r>
            <a:r>
              <a:rPr kumimoji="1" lang="ja-JP" altLang="en-US" sz="1600" b="1">
                <a:solidFill>
                  <a:srgbClr val="333333"/>
                </a:solidFill>
              </a:rPr>
              <a:t>を選択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B1C09A9-0EAB-79DA-D99A-2A5E503A76BC}"/>
              </a:ext>
            </a:extLst>
          </p:cNvPr>
          <p:cNvSpPr/>
          <p:nvPr/>
        </p:nvSpPr>
        <p:spPr>
          <a:xfrm>
            <a:off x="8316364" y="5480898"/>
            <a:ext cx="1682829" cy="2050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/>
          </a:p>
        </p:txBody>
      </p:sp>
    </p:spTree>
    <p:extLst>
      <p:ext uri="{BB962C8B-B14F-4D97-AF65-F5344CB8AC3E}">
        <p14:creationId xmlns:p14="http://schemas.microsoft.com/office/powerpoint/2010/main" val="247083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795C-9D1A-AB59-460A-00F7A3A51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8999356F-EAE8-C002-108C-701F7F057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87" r="4865" b="6456"/>
          <a:stretch/>
        </p:blipFill>
        <p:spPr>
          <a:xfrm>
            <a:off x="6093065" y="1803882"/>
            <a:ext cx="5184535" cy="479926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BED3CD9-6A3C-890A-C520-1D715CBC9DE7}"/>
              </a:ext>
            </a:extLst>
          </p:cNvPr>
          <p:cNvSpPr txBox="1"/>
          <p:nvPr/>
        </p:nvSpPr>
        <p:spPr>
          <a:xfrm>
            <a:off x="355153" y="22151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333333"/>
                </a:solidFill>
              </a:rPr>
              <a:t>色変更の方法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0C69D95-4310-A971-0DC9-4295B686B88B}"/>
              </a:ext>
            </a:extLst>
          </p:cNvPr>
          <p:cNvCxnSpPr/>
          <p:nvPr/>
        </p:nvCxnSpPr>
        <p:spPr>
          <a:xfrm>
            <a:off x="355153" y="611060"/>
            <a:ext cx="11264761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97A0F89-8608-9296-A207-246FDDDAA63A}"/>
              </a:ext>
            </a:extLst>
          </p:cNvPr>
          <p:cNvSpPr txBox="1"/>
          <p:nvPr/>
        </p:nvSpPr>
        <p:spPr>
          <a:xfrm>
            <a:off x="355153" y="1114218"/>
            <a:ext cx="553036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ja-JP" sz="1600" b="1" dirty="0">
                <a:solidFill>
                  <a:srgbClr val="333333"/>
                </a:solidFill>
              </a:rPr>
              <a:t>❹ </a:t>
            </a:r>
            <a:r>
              <a:rPr kumimoji="1" lang="ja-JP" altLang="en-US" sz="1600" b="1">
                <a:solidFill>
                  <a:srgbClr val="333333"/>
                </a:solidFill>
              </a:rPr>
              <a:t>テーマの色をそれぞれ変更して、</a:t>
            </a:r>
            <a:r>
              <a:rPr kumimoji="1" lang="en-US" altLang="ja-JP" sz="1600" b="1" dirty="0">
                <a:solidFill>
                  <a:srgbClr val="333333"/>
                </a:solidFill>
              </a:rPr>
              <a:t>[</a:t>
            </a:r>
            <a:r>
              <a:rPr kumimoji="1" lang="ja-JP" altLang="en-US" sz="1600" b="1">
                <a:solidFill>
                  <a:srgbClr val="333333"/>
                </a:solidFill>
              </a:rPr>
              <a:t>保存</a:t>
            </a:r>
            <a:r>
              <a:rPr kumimoji="1" lang="en-US" altLang="ja-JP" sz="1600" b="1" dirty="0">
                <a:solidFill>
                  <a:srgbClr val="333333"/>
                </a:solidFill>
              </a:rPr>
              <a:t>]</a:t>
            </a:r>
            <a:r>
              <a:rPr kumimoji="1" lang="ja-JP" altLang="en-US" sz="1600" b="1">
                <a:solidFill>
                  <a:srgbClr val="333333"/>
                </a:solidFill>
              </a:rPr>
              <a:t>ボタンをクリック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C92B01C-C047-3BDB-607C-43CE4B0631E1}"/>
              </a:ext>
            </a:extLst>
          </p:cNvPr>
          <p:cNvSpPr/>
          <p:nvPr/>
        </p:nvSpPr>
        <p:spPr>
          <a:xfrm>
            <a:off x="6884075" y="3074147"/>
            <a:ext cx="1501319" cy="186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912C631-7006-0962-DDA5-FBBB963BE2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3660" y="2635704"/>
            <a:ext cx="4809035" cy="270667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03D0827-18C8-0485-6D0E-6B7292295DD9}"/>
              </a:ext>
            </a:extLst>
          </p:cNvPr>
          <p:cNvSpPr/>
          <p:nvPr/>
        </p:nvSpPr>
        <p:spPr>
          <a:xfrm>
            <a:off x="6884075" y="3891360"/>
            <a:ext cx="1501319" cy="2255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1951024-B093-AEB9-AC34-EA4F869E993B}"/>
              </a:ext>
            </a:extLst>
          </p:cNvPr>
          <p:cNvSpPr/>
          <p:nvPr/>
        </p:nvSpPr>
        <p:spPr>
          <a:xfrm>
            <a:off x="6884075" y="3278864"/>
            <a:ext cx="1501319" cy="186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800764A-99F2-4D0E-B1D1-0D8377C96098}"/>
              </a:ext>
            </a:extLst>
          </p:cNvPr>
          <p:cNvSpPr/>
          <p:nvPr/>
        </p:nvSpPr>
        <p:spPr>
          <a:xfrm>
            <a:off x="6884075" y="4123372"/>
            <a:ext cx="1501319" cy="2255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/>
          </a:p>
        </p:txBody>
      </p:sp>
      <p:sp>
        <p:nvSpPr>
          <p:cNvPr id="24" name="フリーフォーム 23">
            <a:extLst>
              <a:ext uri="{FF2B5EF4-FFF2-40B4-BE49-F238E27FC236}">
                <a16:creationId xmlns:a16="http://schemas.microsoft.com/office/drawing/2014/main" id="{2E81B44F-DB48-C1C2-4367-9801FD1C25EB}"/>
              </a:ext>
            </a:extLst>
          </p:cNvPr>
          <p:cNvSpPr/>
          <p:nvPr/>
        </p:nvSpPr>
        <p:spPr>
          <a:xfrm>
            <a:off x="3485584" y="2087899"/>
            <a:ext cx="3938258" cy="995881"/>
          </a:xfrm>
          <a:custGeom>
            <a:avLst/>
            <a:gdLst>
              <a:gd name="connsiteX0" fmla="*/ 3938258 w 3938258"/>
              <a:gd name="connsiteY0" fmla="*/ 977774 h 995881"/>
              <a:gd name="connsiteX1" fmla="*/ 3938258 w 3938258"/>
              <a:gd name="connsiteY1" fmla="*/ 0 h 995881"/>
              <a:gd name="connsiteX2" fmla="*/ 0 w 3938258"/>
              <a:gd name="connsiteY2" fmla="*/ 0 h 995881"/>
              <a:gd name="connsiteX3" fmla="*/ 0 w 3938258"/>
              <a:gd name="connsiteY3" fmla="*/ 995881 h 995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258" h="995881">
                <a:moveTo>
                  <a:pt x="3938258" y="977774"/>
                </a:moveTo>
                <a:lnTo>
                  <a:pt x="3938258" y="0"/>
                </a:lnTo>
                <a:lnTo>
                  <a:pt x="0" y="0"/>
                </a:lnTo>
                <a:lnTo>
                  <a:pt x="0" y="995881"/>
                </a:lnTo>
              </a:path>
            </a:pathLst>
          </a:custGeom>
          <a:noFill/>
          <a:ln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フリーフォーム 24">
            <a:extLst>
              <a:ext uri="{FF2B5EF4-FFF2-40B4-BE49-F238E27FC236}">
                <a16:creationId xmlns:a16="http://schemas.microsoft.com/office/drawing/2014/main" id="{1552EB28-FF72-C1AD-1B2B-25A6B2B15009}"/>
              </a:ext>
            </a:extLst>
          </p:cNvPr>
          <p:cNvSpPr/>
          <p:nvPr/>
        </p:nvSpPr>
        <p:spPr>
          <a:xfrm>
            <a:off x="5040536" y="3366757"/>
            <a:ext cx="1851471" cy="0"/>
          </a:xfrm>
          <a:custGeom>
            <a:avLst/>
            <a:gdLst>
              <a:gd name="connsiteX0" fmla="*/ 1851471 w 1851471"/>
              <a:gd name="connsiteY0" fmla="*/ 0 h 0"/>
              <a:gd name="connsiteX1" fmla="*/ 0 w 185147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1471">
                <a:moveTo>
                  <a:pt x="1851471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フリーフォーム 17">
            <a:extLst>
              <a:ext uri="{FF2B5EF4-FFF2-40B4-BE49-F238E27FC236}">
                <a16:creationId xmlns:a16="http://schemas.microsoft.com/office/drawing/2014/main" id="{5DC9E55A-7D2D-2702-2FC7-F370CA952109}"/>
              </a:ext>
            </a:extLst>
          </p:cNvPr>
          <p:cNvSpPr/>
          <p:nvPr/>
        </p:nvSpPr>
        <p:spPr>
          <a:xfrm>
            <a:off x="4871103" y="3777241"/>
            <a:ext cx="2016807" cy="461473"/>
          </a:xfrm>
          <a:custGeom>
            <a:avLst/>
            <a:gdLst>
              <a:gd name="connsiteX0" fmla="*/ 2016807 w 2016807"/>
              <a:gd name="connsiteY0" fmla="*/ 461473 h 461473"/>
              <a:gd name="connsiteX1" fmla="*/ 675118 w 2016807"/>
              <a:gd name="connsiteY1" fmla="*/ 461473 h 461473"/>
              <a:gd name="connsiteX2" fmla="*/ 675118 w 2016807"/>
              <a:gd name="connsiteY2" fmla="*/ 0 h 461473"/>
              <a:gd name="connsiteX3" fmla="*/ 0 w 2016807"/>
              <a:gd name="connsiteY3" fmla="*/ 0 h 461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6807" h="461473">
                <a:moveTo>
                  <a:pt x="2016807" y="461473"/>
                </a:moveTo>
                <a:lnTo>
                  <a:pt x="675118" y="461473"/>
                </a:lnTo>
                <a:lnTo>
                  <a:pt x="675118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リーフォーム 18">
            <a:extLst>
              <a:ext uri="{FF2B5EF4-FFF2-40B4-BE49-F238E27FC236}">
                <a16:creationId xmlns:a16="http://schemas.microsoft.com/office/drawing/2014/main" id="{6F3A4EE6-AF93-CCCC-C4E7-6110E0418B72}"/>
              </a:ext>
            </a:extLst>
          </p:cNvPr>
          <p:cNvSpPr/>
          <p:nvPr/>
        </p:nvSpPr>
        <p:spPr>
          <a:xfrm>
            <a:off x="2478280" y="3990886"/>
            <a:ext cx="6161518" cy="828942"/>
          </a:xfrm>
          <a:custGeom>
            <a:avLst/>
            <a:gdLst>
              <a:gd name="connsiteX0" fmla="*/ 5913690 w 6161518"/>
              <a:gd name="connsiteY0" fmla="*/ 0 h 828942"/>
              <a:gd name="connsiteX1" fmla="*/ 6161518 w 6161518"/>
              <a:gd name="connsiteY1" fmla="*/ 0 h 828942"/>
              <a:gd name="connsiteX2" fmla="*/ 6161518 w 6161518"/>
              <a:gd name="connsiteY2" fmla="*/ 828942 h 828942"/>
              <a:gd name="connsiteX3" fmla="*/ 0 w 6161518"/>
              <a:gd name="connsiteY3" fmla="*/ 828942 h 82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61518" h="828942">
                <a:moveTo>
                  <a:pt x="5913690" y="0"/>
                </a:moveTo>
                <a:lnTo>
                  <a:pt x="6161518" y="0"/>
                </a:lnTo>
                <a:lnTo>
                  <a:pt x="6161518" y="828942"/>
                </a:lnTo>
                <a:lnTo>
                  <a:pt x="0" y="828942"/>
                </a:lnTo>
              </a:path>
            </a:pathLst>
          </a:custGeom>
          <a:noFill/>
          <a:ln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79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DFF2AC81-3683-3CB2-6212-6A975C36E7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83202" y="2455723"/>
            <a:ext cx="8113503" cy="498598"/>
          </a:xfrm>
        </p:spPr>
        <p:txBody>
          <a:bodyPr/>
          <a:lstStyle/>
          <a:p>
            <a:r>
              <a:rPr kumimoji="1" lang="en" altLang="ja-JP" dirty="0"/>
              <a:t>Instagram</a:t>
            </a:r>
            <a:r>
              <a:rPr kumimoji="1" lang="ja-JP" altLang="en"/>
              <a:t>・</a:t>
            </a:r>
            <a:r>
              <a:rPr kumimoji="1" lang="en" altLang="ja-JP" dirty="0"/>
              <a:t>TikTok</a:t>
            </a:r>
            <a:r>
              <a:rPr kumimoji="1" lang="ja-JP" altLang="en-US"/>
              <a:t>運用に関する提案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D1BDB7F-9BFB-25E0-2F79-E9AAB241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202" y="3152001"/>
            <a:ext cx="6463308" cy="276999"/>
          </a:xfrm>
        </p:spPr>
        <p:txBody>
          <a:bodyPr/>
          <a:lstStyle/>
          <a:p>
            <a:r>
              <a:rPr kumimoji="1" lang="en-US" altLang="ja-JP" dirty="0"/>
              <a:t>〜</a:t>
            </a:r>
            <a:r>
              <a:rPr kumimoji="1" lang="ja-JP" altLang="en-US"/>
              <a:t>新規顧客獲得の頭打ちを打開する新チャネル施策</a:t>
            </a:r>
            <a:r>
              <a:rPr kumimoji="1" lang="en-US" altLang="ja-JP" dirty="0"/>
              <a:t>〜</a:t>
            </a:r>
            <a:endParaRPr kumimoji="1" lang="ja-JP" altLang="en-US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18A28B3E-3D9C-0032-92C8-87AECDB4645F}"/>
              </a:ext>
            </a:extLst>
          </p:cNvPr>
          <p:cNvSpPr/>
          <p:nvPr/>
        </p:nvSpPr>
        <p:spPr>
          <a:xfrm>
            <a:off x="1512862" y="3791125"/>
            <a:ext cx="2294764" cy="3385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013" indent="-227013" algn="ctr">
              <a:buFont typeface="Wingdings" pitchFamily="2" charset="2"/>
              <a:buChar char="l"/>
            </a:pPr>
            <a:r>
              <a:rPr lang="en-US" altLang="ja-JP" sz="1200" b="1" spc="100" dirty="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12</a:t>
            </a:r>
            <a:r>
              <a:rPr lang="ja-JP" altLang="en-US" sz="12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月</a:t>
            </a:r>
            <a:r>
              <a:rPr lang="en-US" altLang="ja-JP" sz="1200" b="1" spc="100" dirty="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 </a:t>
            </a:r>
            <a:r>
              <a:rPr lang="ja-JP" altLang="en-US" sz="12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マーケ企画会議</a:t>
            </a:r>
            <a:endParaRPr kumimoji="1" lang="ja-JP" altLang="en-US" sz="1200" b="1" spc="100">
              <a:latin typeface="Yu Gothic" panose="020B0400000000000000" pitchFamily="34" charset="-128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494E3A79-63F7-4731-977C-1949F50FC22B}"/>
              </a:ext>
            </a:extLst>
          </p:cNvPr>
          <p:cNvSpPr/>
          <p:nvPr/>
        </p:nvSpPr>
        <p:spPr>
          <a:xfrm>
            <a:off x="4029861" y="3791125"/>
            <a:ext cx="2294764" cy="3385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013" indent="-227013" algn="ctr">
              <a:buFont typeface="Wingdings" pitchFamily="2" charset="2"/>
              <a:buChar char="l"/>
            </a:pPr>
            <a:r>
              <a:rPr lang="en-US" altLang="ja-JP" sz="1200" b="1" spc="100" dirty="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2024</a:t>
            </a:r>
            <a:r>
              <a:rPr lang="ja-JP" altLang="en-US" sz="12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年</a:t>
            </a:r>
            <a:r>
              <a:rPr lang="en-US" altLang="ja-JP" sz="1200" b="1" spc="100" dirty="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11</a:t>
            </a:r>
            <a:r>
              <a:rPr lang="ja-JP" altLang="en-US" sz="12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月</a:t>
            </a:r>
            <a:r>
              <a:rPr lang="en-US" altLang="ja-JP" sz="1200" b="1" spc="100" dirty="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1</a:t>
            </a:r>
            <a:r>
              <a:rPr lang="ja-JP" altLang="en-US" sz="12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日</a:t>
            </a:r>
            <a:r>
              <a:rPr lang="en-US" altLang="ja-JP" sz="1200" b="1" spc="100" dirty="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 </a:t>
            </a:r>
            <a:r>
              <a:rPr lang="ja-JP" altLang="en-US" sz="12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作成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6B94AC1-2E0C-EF99-9059-01E2529E523D}"/>
              </a:ext>
            </a:extLst>
          </p:cNvPr>
          <p:cNvSpPr/>
          <p:nvPr/>
        </p:nvSpPr>
        <p:spPr>
          <a:xfrm>
            <a:off x="1528361" y="2354493"/>
            <a:ext cx="46445" cy="11363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98D3FD0-D42D-94BC-308B-6D7ECEEC0869}"/>
              </a:ext>
            </a:extLst>
          </p:cNvPr>
          <p:cNvSpPr txBox="1"/>
          <p:nvPr/>
        </p:nvSpPr>
        <p:spPr>
          <a:xfrm>
            <a:off x="1528360" y="5944865"/>
            <a:ext cx="4390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マーケティング事業部</a:t>
            </a:r>
            <a:r>
              <a:rPr lang="en-US" altLang="ja-JP" sz="1400" b="1" spc="100" dirty="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 / </a:t>
            </a:r>
            <a:r>
              <a:rPr lang="ja-JP" altLang="en-US" sz="14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マネージャー</a:t>
            </a:r>
            <a:r>
              <a:rPr lang="en-US" altLang="ja-JP" sz="1400" b="1" spc="100" dirty="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 </a:t>
            </a:r>
            <a:r>
              <a:rPr lang="ja-JP" altLang="en-US" sz="14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田中</a:t>
            </a:r>
            <a:r>
              <a:rPr lang="en-US" altLang="ja-JP" sz="1400" b="1" spc="100" dirty="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 </a:t>
            </a:r>
            <a:r>
              <a:rPr lang="ja-JP" altLang="en-US" sz="14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太郎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F6AE7F1-2CC1-2F3A-2B1C-EC6AB6B9B8D8}"/>
              </a:ext>
            </a:extLst>
          </p:cNvPr>
          <p:cNvCxnSpPr/>
          <p:nvPr/>
        </p:nvCxnSpPr>
        <p:spPr>
          <a:xfrm>
            <a:off x="6097340" y="6082748"/>
            <a:ext cx="266248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53D5981C-C7BE-0BDC-CAD0-9F1E4537338E}"/>
              </a:ext>
            </a:extLst>
          </p:cNvPr>
          <p:cNvSpPr/>
          <p:nvPr/>
        </p:nvSpPr>
        <p:spPr>
          <a:xfrm>
            <a:off x="9275685" y="5931638"/>
            <a:ext cx="2112926" cy="301083"/>
          </a:xfrm>
          <a:prstGeom prst="roundRect">
            <a:avLst>
              <a:gd name="adj" fmla="val 7176"/>
            </a:avLst>
          </a:prstGeom>
          <a:noFill/>
          <a:ln w="12700">
            <a:solidFill>
              <a:srgbClr val="F768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spc="3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kumimoji="1" lang="ja-JP" altLang="en-US" sz="1400" spc="30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769E24A-F4EA-D017-62D3-76E18DE70F72}"/>
              </a:ext>
            </a:extLst>
          </p:cNvPr>
          <p:cNvSpPr txBox="1"/>
          <p:nvPr/>
        </p:nvSpPr>
        <p:spPr>
          <a:xfrm>
            <a:off x="10475992" y="376512"/>
            <a:ext cx="1292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i="1" spc="100" dirty="0">
                <a:solidFill>
                  <a:schemeClr val="accent1"/>
                </a:solidFill>
                <a:latin typeface="Avenir Black Oblique" panose="02000503020000020003" pitchFamily="2" charset="0"/>
                <a:cs typeface="Arial" panose="020B0604020202020204" pitchFamily="34" charset="0"/>
              </a:rPr>
              <a:t>LOGO</a:t>
            </a:r>
            <a:endParaRPr lang="en-US" altLang="ja-JP" sz="2800" b="1" i="1" spc="100" dirty="0">
              <a:solidFill>
                <a:schemeClr val="accent1"/>
              </a:solidFill>
              <a:latin typeface="Avenir Black Oblique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281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2AC7BC8E-6B9E-8F94-017D-A7E2731F0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ACA955-4819-6FD9-7BC8-00A4A86F07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44021" y="3082708"/>
            <a:ext cx="2359620" cy="443198"/>
          </a:xfrm>
        </p:spPr>
        <p:txBody>
          <a:bodyPr/>
          <a:lstStyle/>
          <a:p>
            <a:pPr algn="ctr"/>
            <a:r>
              <a:rPr kumimoji="1" lang="en-US" altLang="ja-JP" dirty="0"/>
              <a:t>CONTENTS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3848397-1D80-4EF5-F5B4-54318D5FF2C3}"/>
              </a:ext>
            </a:extLst>
          </p:cNvPr>
          <p:cNvSpPr txBox="1"/>
          <p:nvPr/>
        </p:nvSpPr>
        <p:spPr>
          <a:xfrm>
            <a:off x="5177770" y="1580415"/>
            <a:ext cx="1615827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提案サマリー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BD47C1B-CB06-EBF9-EF93-DCF789E8C2D0}"/>
              </a:ext>
            </a:extLst>
          </p:cNvPr>
          <p:cNvSpPr txBox="1"/>
          <p:nvPr/>
        </p:nvSpPr>
        <p:spPr>
          <a:xfrm>
            <a:off x="5177770" y="2459853"/>
            <a:ext cx="107721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現状確認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2E16734-03EC-E4D5-9261-296B0FC76B40}"/>
              </a:ext>
            </a:extLst>
          </p:cNvPr>
          <p:cNvSpPr txBox="1"/>
          <p:nvPr/>
        </p:nvSpPr>
        <p:spPr>
          <a:xfrm>
            <a:off x="5177770" y="3339291"/>
            <a:ext cx="1346522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原因と課題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F2FCB56-6476-90DB-36BC-AD12D1677788}"/>
              </a:ext>
            </a:extLst>
          </p:cNvPr>
          <p:cNvSpPr txBox="1"/>
          <p:nvPr/>
        </p:nvSpPr>
        <p:spPr>
          <a:xfrm>
            <a:off x="5177770" y="4218729"/>
            <a:ext cx="2154436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解決策（方向性）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0AAF85B-52C8-C213-08D1-5CB729D48A4B}"/>
              </a:ext>
            </a:extLst>
          </p:cNvPr>
          <p:cNvSpPr txBox="1"/>
          <p:nvPr/>
        </p:nvSpPr>
        <p:spPr>
          <a:xfrm>
            <a:off x="5177770" y="5098166"/>
            <a:ext cx="107721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企画概要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7FF479-C9B3-284A-43B6-D1A70EEC79D9}"/>
              </a:ext>
            </a:extLst>
          </p:cNvPr>
          <p:cNvSpPr txBox="1"/>
          <p:nvPr/>
        </p:nvSpPr>
        <p:spPr>
          <a:xfrm>
            <a:off x="8676342" y="1580415"/>
            <a:ext cx="107721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企画詳細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B18904-5042-F270-8EF8-72B58A2FBC6A}"/>
              </a:ext>
            </a:extLst>
          </p:cNvPr>
          <p:cNvSpPr txBox="1"/>
          <p:nvPr/>
        </p:nvSpPr>
        <p:spPr>
          <a:xfrm>
            <a:off x="8676342" y="2459853"/>
            <a:ext cx="2423740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目標設定・期待効果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A2AAE4C-73E9-0B09-B89D-877AA7C705DA}"/>
              </a:ext>
            </a:extLst>
          </p:cNvPr>
          <p:cNvSpPr txBox="1"/>
          <p:nvPr/>
        </p:nvSpPr>
        <p:spPr>
          <a:xfrm>
            <a:off x="8676342" y="3339291"/>
            <a:ext cx="538609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費用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B5DB768-885A-CD96-1EC4-5905C72F900A}"/>
              </a:ext>
            </a:extLst>
          </p:cNvPr>
          <p:cNvSpPr txBox="1"/>
          <p:nvPr/>
        </p:nvSpPr>
        <p:spPr>
          <a:xfrm>
            <a:off x="8676342" y="4218729"/>
            <a:ext cx="807913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体制図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0B66249-A1A9-938C-6F6B-0C625F2EB5EB}"/>
              </a:ext>
            </a:extLst>
          </p:cNvPr>
          <p:cNvSpPr txBox="1"/>
          <p:nvPr/>
        </p:nvSpPr>
        <p:spPr>
          <a:xfrm>
            <a:off x="8676342" y="5098166"/>
            <a:ext cx="1615827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スケジュール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7DCD16A4-E937-7CB5-2DC0-66E047CD413B}"/>
              </a:ext>
            </a:extLst>
          </p:cNvPr>
          <p:cNvSpPr/>
          <p:nvPr/>
        </p:nvSpPr>
        <p:spPr>
          <a:xfrm>
            <a:off x="4598206" y="1534249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C5825869-942E-8554-9D80-5C3C7B070BA0}"/>
              </a:ext>
            </a:extLst>
          </p:cNvPr>
          <p:cNvSpPr/>
          <p:nvPr/>
        </p:nvSpPr>
        <p:spPr>
          <a:xfrm>
            <a:off x="4598206" y="2414202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3C2C09FA-941D-F9AF-47D7-AFF397F256C4}"/>
              </a:ext>
            </a:extLst>
          </p:cNvPr>
          <p:cNvSpPr/>
          <p:nvPr/>
        </p:nvSpPr>
        <p:spPr>
          <a:xfrm>
            <a:off x="4598206" y="3294155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761FFF32-8E71-31B5-23DC-A3E205A14A1C}"/>
              </a:ext>
            </a:extLst>
          </p:cNvPr>
          <p:cNvSpPr/>
          <p:nvPr/>
        </p:nvSpPr>
        <p:spPr>
          <a:xfrm>
            <a:off x="4598206" y="4174108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円/楕円 17">
            <a:extLst>
              <a:ext uri="{FF2B5EF4-FFF2-40B4-BE49-F238E27FC236}">
                <a16:creationId xmlns:a16="http://schemas.microsoft.com/office/drawing/2014/main" id="{CA3D85F5-5EE7-E743-F8A3-203303A6C18D}"/>
              </a:ext>
            </a:extLst>
          </p:cNvPr>
          <p:cNvSpPr/>
          <p:nvPr/>
        </p:nvSpPr>
        <p:spPr>
          <a:xfrm>
            <a:off x="4598206" y="5054062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BFE4AC6F-B5AD-971F-5500-71DBB1503904}"/>
              </a:ext>
            </a:extLst>
          </p:cNvPr>
          <p:cNvSpPr/>
          <p:nvPr/>
        </p:nvSpPr>
        <p:spPr>
          <a:xfrm>
            <a:off x="8093760" y="1534249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8304816F-AA68-6BA2-19E6-18B38FAEA39B}"/>
              </a:ext>
            </a:extLst>
          </p:cNvPr>
          <p:cNvSpPr/>
          <p:nvPr/>
        </p:nvSpPr>
        <p:spPr>
          <a:xfrm>
            <a:off x="8093760" y="2414202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CA94446C-FF12-4221-D5D6-D3438FB62D88}"/>
              </a:ext>
            </a:extLst>
          </p:cNvPr>
          <p:cNvSpPr/>
          <p:nvPr/>
        </p:nvSpPr>
        <p:spPr>
          <a:xfrm>
            <a:off x="8093760" y="3294155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181DE940-D56B-BC1E-DB96-C5E847DD9EE9}"/>
              </a:ext>
            </a:extLst>
          </p:cNvPr>
          <p:cNvSpPr/>
          <p:nvPr/>
        </p:nvSpPr>
        <p:spPr>
          <a:xfrm>
            <a:off x="8093760" y="4174108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B1B4900C-8381-FDD8-0EFB-01A4F76C8683}"/>
              </a:ext>
            </a:extLst>
          </p:cNvPr>
          <p:cNvSpPr/>
          <p:nvPr/>
        </p:nvSpPr>
        <p:spPr>
          <a:xfrm>
            <a:off x="8093760" y="5054062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41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79E8B-D60A-438B-24CF-2E5428178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80C9E722-BBD7-B8E5-672E-CE4B8115675E}"/>
              </a:ext>
            </a:extLst>
          </p:cNvPr>
          <p:cNvSpPr/>
          <p:nvPr/>
        </p:nvSpPr>
        <p:spPr>
          <a:xfrm>
            <a:off x="4395579" y="1386234"/>
            <a:ext cx="3314732" cy="68862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9FECCE3F-F004-CCCD-A288-73758B043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CD96C3-8E65-6853-1074-EF3EFF12AF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44021" y="3082708"/>
            <a:ext cx="2359620" cy="443198"/>
          </a:xfrm>
        </p:spPr>
        <p:txBody>
          <a:bodyPr/>
          <a:lstStyle/>
          <a:p>
            <a:pPr algn="ctr"/>
            <a:r>
              <a:rPr kumimoji="1" lang="en-US" altLang="ja-JP" dirty="0"/>
              <a:t>CONTENTS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FF749AC-F746-4CB2-5807-A5BCBCF76B62}"/>
              </a:ext>
            </a:extLst>
          </p:cNvPr>
          <p:cNvSpPr txBox="1"/>
          <p:nvPr/>
        </p:nvSpPr>
        <p:spPr>
          <a:xfrm>
            <a:off x="5177770" y="1580415"/>
            <a:ext cx="1615827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提案サマリー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92CF7A-A812-ABD2-6515-B0912A09D547}"/>
              </a:ext>
            </a:extLst>
          </p:cNvPr>
          <p:cNvSpPr txBox="1"/>
          <p:nvPr/>
        </p:nvSpPr>
        <p:spPr>
          <a:xfrm>
            <a:off x="5177770" y="2459853"/>
            <a:ext cx="107721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現状確認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8661472-2BB5-1C44-FD0D-F6EB89C06DB8}"/>
              </a:ext>
            </a:extLst>
          </p:cNvPr>
          <p:cNvSpPr txBox="1"/>
          <p:nvPr/>
        </p:nvSpPr>
        <p:spPr>
          <a:xfrm>
            <a:off x="5177770" y="3339291"/>
            <a:ext cx="1346522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原因と課題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2146E54-FFE8-6512-4A30-FA8EDF277009}"/>
              </a:ext>
            </a:extLst>
          </p:cNvPr>
          <p:cNvSpPr txBox="1"/>
          <p:nvPr/>
        </p:nvSpPr>
        <p:spPr>
          <a:xfrm>
            <a:off x="5177770" y="4218729"/>
            <a:ext cx="2154436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解決策（方向性）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9B5D76-B8AD-F52E-D049-1FC81206CFB4}"/>
              </a:ext>
            </a:extLst>
          </p:cNvPr>
          <p:cNvSpPr txBox="1"/>
          <p:nvPr/>
        </p:nvSpPr>
        <p:spPr>
          <a:xfrm>
            <a:off x="5177770" y="5098166"/>
            <a:ext cx="107721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企画概要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A7F15D9-2F7A-1C28-1A71-D7162A71E4DB}"/>
              </a:ext>
            </a:extLst>
          </p:cNvPr>
          <p:cNvSpPr txBox="1"/>
          <p:nvPr/>
        </p:nvSpPr>
        <p:spPr>
          <a:xfrm>
            <a:off x="8676342" y="1580415"/>
            <a:ext cx="107721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企画詳細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0105B3-B488-0062-25AF-A7815D5FF622}"/>
              </a:ext>
            </a:extLst>
          </p:cNvPr>
          <p:cNvSpPr txBox="1"/>
          <p:nvPr/>
        </p:nvSpPr>
        <p:spPr>
          <a:xfrm>
            <a:off x="8676342" y="2459853"/>
            <a:ext cx="2423740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目標設定・期待効果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DEED694-1D89-7B2A-4830-669DFDF7838A}"/>
              </a:ext>
            </a:extLst>
          </p:cNvPr>
          <p:cNvSpPr txBox="1"/>
          <p:nvPr/>
        </p:nvSpPr>
        <p:spPr>
          <a:xfrm>
            <a:off x="8676342" y="3339291"/>
            <a:ext cx="538609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費用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92B1E81-EFFD-17C2-1254-36653D44357E}"/>
              </a:ext>
            </a:extLst>
          </p:cNvPr>
          <p:cNvSpPr txBox="1"/>
          <p:nvPr/>
        </p:nvSpPr>
        <p:spPr>
          <a:xfrm>
            <a:off x="8676342" y="4218729"/>
            <a:ext cx="807913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体制図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2E483C8-360F-6BBB-32BE-DD6DA17229A5}"/>
              </a:ext>
            </a:extLst>
          </p:cNvPr>
          <p:cNvSpPr txBox="1"/>
          <p:nvPr/>
        </p:nvSpPr>
        <p:spPr>
          <a:xfrm>
            <a:off x="8676342" y="5098166"/>
            <a:ext cx="1615827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ja-JP" altLang="en-US" sz="2000" b="1" spc="10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スケジュール</a:t>
            </a:r>
            <a:endParaRPr lang="en-US" altLang="ja-JP" sz="2000" b="1" spc="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FE8F9ABA-DC7E-085F-EC2A-10B862B5085D}"/>
              </a:ext>
            </a:extLst>
          </p:cNvPr>
          <p:cNvSpPr/>
          <p:nvPr/>
        </p:nvSpPr>
        <p:spPr>
          <a:xfrm>
            <a:off x="4598206" y="1534249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3C731B95-07BA-8B10-F210-4F178E7AAF3A}"/>
              </a:ext>
            </a:extLst>
          </p:cNvPr>
          <p:cNvSpPr/>
          <p:nvPr/>
        </p:nvSpPr>
        <p:spPr>
          <a:xfrm>
            <a:off x="4598206" y="2414202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AB13F3DB-60EB-A900-6028-84CD834A8D7A}"/>
              </a:ext>
            </a:extLst>
          </p:cNvPr>
          <p:cNvSpPr/>
          <p:nvPr/>
        </p:nvSpPr>
        <p:spPr>
          <a:xfrm>
            <a:off x="4598206" y="3294155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A6175143-630C-B286-B53F-92E255DE5B72}"/>
              </a:ext>
            </a:extLst>
          </p:cNvPr>
          <p:cNvSpPr/>
          <p:nvPr/>
        </p:nvSpPr>
        <p:spPr>
          <a:xfrm>
            <a:off x="4598206" y="4174108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円/楕円 17">
            <a:extLst>
              <a:ext uri="{FF2B5EF4-FFF2-40B4-BE49-F238E27FC236}">
                <a16:creationId xmlns:a16="http://schemas.microsoft.com/office/drawing/2014/main" id="{D6D9F7D0-834A-D649-94AB-BB1E4C524BB5}"/>
              </a:ext>
            </a:extLst>
          </p:cNvPr>
          <p:cNvSpPr/>
          <p:nvPr/>
        </p:nvSpPr>
        <p:spPr>
          <a:xfrm>
            <a:off x="4598206" y="5054062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BAF88CD4-9579-A352-8D20-445D8AC13F0F}"/>
              </a:ext>
            </a:extLst>
          </p:cNvPr>
          <p:cNvSpPr/>
          <p:nvPr/>
        </p:nvSpPr>
        <p:spPr>
          <a:xfrm>
            <a:off x="8093760" y="1534249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C6E187DE-B0C7-11B2-86E9-02D01F227D5D}"/>
              </a:ext>
            </a:extLst>
          </p:cNvPr>
          <p:cNvSpPr/>
          <p:nvPr/>
        </p:nvSpPr>
        <p:spPr>
          <a:xfrm>
            <a:off x="8093760" y="2414202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E6CA7953-CCD7-4EFE-D1A4-63297C7523A3}"/>
              </a:ext>
            </a:extLst>
          </p:cNvPr>
          <p:cNvSpPr/>
          <p:nvPr/>
        </p:nvSpPr>
        <p:spPr>
          <a:xfrm>
            <a:off x="8093760" y="3294155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C5B344D8-86E6-E7C6-C79D-DD3BFBB0B43D}"/>
              </a:ext>
            </a:extLst>
          </p:cNvPr>
          <p:cNvSpPr/>
          <p:nvPr/>
        </p:nvSpPr>
        <p:spPr>
          <a:xfrm>
            <a:off x="8093760" y="4174108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5D6561E9-960E-9031-6DD9-BCD91C40B4A0}"/>
              </a:ext>
            </a:extLst>
          </p:cNvPr>
          <p:cNvSpPr/>
          <p:nvPr/>
        </p:nvSpPr>
        <p:spPr>
          <a:xfrm>
            <a:off x="8093760" y="5054062"/>
            <a:ext cx="390888" cy="3908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kumimoji="1" lang="ja-JP" alt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986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6D651E5-AA2D-FF37-841B-D77EEDE1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454" y="6659485"/>
            <a:ext cx="2340384" cy="138499"/>
          </a:xfrm>
        </p:spPr>
        <p:txBody>
          <a:bodyPr/>
          <a:lstStyle/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F9F1C-5583-D39B-3F65-B3DE0F93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5674" y="6464778"/>
            <a:ext cx="568569" cy="365125"/>
          </a:xfrm>
        </p:spPr>
        <p:txBody>
          <a:bodyPr/>
          <a:lstStyle/>
          <a:p>
            <a:fld id="{3B885C3E-5C69-C74B-88D2-3CD82C73D522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779D5FB-F165-76FD-2A34-8A2EF95321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197" y="366204"/>
            <a:ext cx="1949252" cy="249299"/>
          </a:xfrm>
        </p:spPr>
        <p:txBody>
          <a:bodyPr/>
          <a:lstStyle/>
          <a:p>
            <a:r>
              <a:rPr lang="ja-JP" altLang="en-US"/>
              <a:t>サマリー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A102832F-15E2-A93B-3538-12AF10032E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137" y="363705"/>
            <a:ext cx="227626" cy="221599"/>
          </a:xfrm>
        </p:spPr>
        <p:txBody>
          <a:bodyPr/>
          <a:lstStyle/>
          <a:p>
            <a:r>
              <a:rPr lang="en-US" altLang="ja-JP"/>
              <a:t>01</a:t>
            </a:r>
            <a:endParaRPr lang="ja-JP" altLang="en-US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E04857DC-DD79-88AD-ADB0-0C4B65DFF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233518"/>
              </p:ext>
            </p:extLst>
          </p:nvPr>
        </p:nvGraphicFramePr>
        <p:xfrm>
          <a:off x="747532" y="967237"/>
          <a:ext cx="10696936" cy="5492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983">
                  <a:extLst>
                    <a:ext uri="{9D8B030D-6E8A-4147-A177-3AD203B41FA5}">
                      <a16:colId xmlns:a16="http://schemas.microsoft.com/office/drawing/2014/main" val="3711996526"/>
                    </a:ext>
                  </a:extLst>
                </a:gridCol>
                <a:gridCol w="8357953">
                  <a:extLst>
                    <a:ext uri="{9D8B030D-6E8A-4147-A177-3AD203B41FA5}">
                      <a16:colId xmlns:a16="http://schemas.microsoft.com/office/drawing/2014/main" val="1111179548"/>
                    </a:ext>
                  </a:extLst>
                </a:gridCol>
              </a:tblGrid>
              <a:tr h="91537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accent1"/>
                          </a:solidFill>
                        </a:rPr>
                        <a:t>現状の問題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-190500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ja-JP" altLang="en-US" sz="1400" b="0" i="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売上が横ばい、</a:t>
                      </a:r>
                      <a:r>
                        <a:rPr kumimoji="1" lang="ja-JP" altLang="en-US" sz="1400" b="1" i="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新規顧客獲得数が停滞</a:t>
                      </a:r>
                    </a:p>
                    <a:p>
                      <a:pPr marL="190500" indent="-190500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" altLang="ja-JP" sz="1400" b="0" i="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CPA</a:t>
                      </a:r>
                      <a:r>
                        <a:rPr kumimoji="1" lang="ja-JP" altLang="en" sz="1400" b="0" i="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（</a:t>
                      </a:r>
                      <a:r>
                        <a:rPr kumimoji="1" lang="ja-JP" altLang="en-US" sz="1400" b="0" i="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顧客獲得単価）が高騰し、費用対効果が悪化</a:t>
                      </a:r>
                    </a:p>
                  </a:txBody>
                  <a:tcPr marL="28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39601"/>
                  </a:ext>
                </a:extLst>
              </a:tr>
              <a:tr h="91537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>
                          <a:solidFill>
                            <a:schemeClr val="accent1"/>
                          </a:solidFill>
                        </a:rPr>
                        <a:t>問題の原因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Web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広告の効果低下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（</a:t>
                      </a:r>
                      <a:r>
                        <a:rPr kumimoji="1" lang="en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CPM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高騰・クリエイティブ疲労）</a:t>
                      </a:r>
                    </a:p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SNS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未活用で若年層（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20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代～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30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代）へのリーチ不足</a:t>
                      </a:r>
                    </a:p>
                  </a:txBody>
                  <a:tcPr marL="28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824231"/>
                  </a:ext>
                </a:extLst>
              </a:tr>
              <a:tr h="91537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>
                          <a:solidFill>
                            <a:schemeClr val="accent1"/>
                          </a:solidFill>
                        </a:rPr>
                        <a:t>解決策・提案内容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Instagram</a:t>
                      </a:r>
                      <a:r>
                        <a:rPr kumimoji="1" lang="ja-JP" altLang="en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・</a:t>
                      </a:r>
                      <a:r>
                        <a:rPr kumimoji="1" lang="en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TikTok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運用を開始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し、新しいチャネルを構築。</a:t>
                      </a:r>
                    </a:p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具体施策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: </a:t>
                      </a:r>
                      <a:r>
                        <a:rPr kumimoji="1" lang="en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Instagram</a:t>
                      </a:r>
                      <a:r>
                        <a:rPr kumimoji="1" lang="ja-JP" altLang="en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（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成功事例・</a:t>
                      </a:r>
                      <a:r>
                        <a:rPr kumimoji="1" lang="en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Q&amp;A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投稿）、</a:t>
                      </a:r>
                      <a:r>
                        <a:rPr kumimoji="1" lang="en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TikTok</a:t>
                      </a:r>
                      <a:r>
                        <a:rPr kumimoji="1" lang="ja-JP" altLang="en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（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学習</a:t>
                      </a:r>
                      <a:r>
                        <a:rPr kumimoji="1" lang="en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Tips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動画）</a:t>
                      </a:r>
                    </a:p>
                  </a:txBody>
                  <a:tcPr marL="28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319265"/>
                  </a:ext>
                </a:extLst>
              </a:tr>
              <a:tr h="91537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>
                          <a:solidFill>
                            <a:schemeClr val="accent1"/>
                          </a:solidFill>
                        </a:rPr>
                        <a:t>必要費用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初期費用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en-US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70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万円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（動画制作費 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50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万円、デザイン費 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20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万円）</a:t>
                      </a:r>
                    </a:p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月次費用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en-US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40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万円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（広告予算 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30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万円、運用担当者コスト 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10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万円）</a:t>
                      </a:r>
                    </a:p>
                  </a:txBody>
                  <a:tcPr marL="28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761685"/>
                  </a:ext>
                </a:extLst>
              </a:tr>
              <a:tr h="91537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>
                          <a:solidFill>
                            <a:schemeClr val="accent1"/>
                          </a:solidFill>
                        </a:rPr>
                        <a:t>期待効果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新規リード数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en-US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+20%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増加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（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3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ヶ月以内）</a:t>
                      </a:r>
                    </a:p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</a:t>
                      </a:r>
                      <a:r>
                        <a:rPr kumimoji="1" lang="en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CPA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en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15,000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円 → </a:t>
                      </a:r>
                      <a:r>
                        <a:rPr kumimoji="1" lang="en-US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12,000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円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（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6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ヶ月以内）</a:t>
                      </a:r>
                      <a:endParaRPr kumimoji="1" lang="en-US" altLang="ja-JP" sz="1400" b="0" i="0" kern="1200" spc="100" baseline="0" dirty="0">
                        <a:solidFill>
                          <a:schemeClr val="tx1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回収期間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初期費用は</a:t>
                      </a:r>
                      <a:r>
                        <a:rPr kumimoji="1" lang="en-US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6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ヶ月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で回収見込み</a:t>
                      </a:r>
                    </a:p>
                  </a:txBody>
                  <a:tcPr marL="28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400510"/>
                  </a:ext>
                </a:extLst>
              </a:tr>
              <a:tr h="91537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>
                          <a:solidFill>
                            <a:schemeClr val="accent1"/>
                          </a:solidFill>
                        </a:rPr>
                        <a:t>実行計画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【1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月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アカウント開設、初期コンテンツ制作</a:t>
                      </a:r>
                    </a:p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【2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月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定期投稿開始、初期キャンペーン実施</a:t>
                      </a:r>
                    </a:p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【3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月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広告連携、効果測定と改善</a:t>
                      </a:r>
                    </a:p>
                  </a:txBody>
                  <a:tcPr marL="28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598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163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F384-342F-CAEB-13D8-B8BC088F4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3C000C2-4791-375F-04FB-099D9F0FF6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35847" y="1109400"/>
            <a:ext cx="8335615" cy="793038"/>
          </a:xfrm>
        </p:spPr>
        <p:txBody>
          <a:bodyPr/>
          <a:lstStyle/>
          <a:p>
            <a:r>
              <a:rPr lang="en-US" altLang="ja-JP" dirty="0"/>
              <a:t>2020</a:t>
            </a:r>
            <a:r>
              <a:rPr lang="ja-JP" altLang="en-US"/>
              <a:t>年度以降、</a:t>
            </a:r>
            <a:r>
              <a:rPr lang="en" altLang="ja-JP" dirty="0"/>
              <a:t>ABC</a:t>
            </a:r>
            <a:r>
              <a:rPr lang="ja-JP" altLang="en-US"/>
              <a:t>事業の売上は横ばいが続く。</a:t>
            </a:r>
          </a:p>
          <a:p>
            <a:r>
              <a:rPr lang="ja-JP" altLang="en-US"/>
              <a:t>現状維持のままでは、</a:t>
            </a:r>
            <a:r>
              <a:rPr lang="ja-JP" altLang="en-US">
                <a:solidFill>
                  <a:schemeClr val="accent1"/>
                </a:solidFill>
              </a:rPr>
              <a:t>事業成長が停滞するリスク</a:t>
            </a:r>
            <a:r>
              <a:rPr lang="ja-JP" altLang="en-US"/>
              <a:t>がある。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3B634B0-0ED6-34FA-3340-E891E63DB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454" y="6659485"/>
            <a:ext cx="2340384" cy="138499"/>
          </a:xfrm>
        </p:spPr>
        <p:txBody>
          <a:bodyPr/>
          <a:lstStyle/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EBFB9D-6739-8877-DF4A-8DBE655C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5674" y="6464778"/>
            <a:ext cx="568569" cy="365125"/>
          </a:xfrm>
        </p:spPr>
        <p:txBody>
          <a:bodyPr/>
          <a:lstStyle/>
          <a:p>
            <a:fld id="{3B885C3E-5C69-C74B-88D2-3CD82C73D522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028250E-7DF3-F196-9B37-6AE8DC2342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197" y="366204"/>
            <a:ext cx="1949252" cy="249299"/>
          </a:xfrm>
        </p:spPr>
        <p:txBody>
          <a:bodyPr/>
          <a:lstStyle/>
          <a:p>
            <a:r>
              <a:rPr lang="ja-JP" altLang="en-US"/>
              <a:t>現状分析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1AFE646-6C61-D723-441C-23E643F425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137" y="363705"/>
            <a:ext cx="227626" cy="221599"/>
          </a:xfrm>
        </p:spPr>
        <p:txBody>
          <a:bodyPr/>
          <a:lstStyle/>
          <a:p>
            <a:r>
              <a:rPr lang="en-US" altLang="ja-JP" dirty="0"/>
              <a:t>02</a:t>
            </a:r>
            <a:endParaRPr lang="ja-JP" altLang="en-US"/>
          </a:p>
        </p:txBody>
      </p:sp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A3C4FAE9-4FF9-672A-0F9C-936D7580F8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7890006"/>
              </p:ext>
            </p:extLst>
          </p:nvPr>
        </p:nvGraphicFramePr>
        <p:xfrm>
          <a:off x="1342967" y="2606971"/>
          <a:ext cx="9506066" cy="3982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1799C9F3-E245-77D8-B8B3-805AC82D85EE}"/>
              </a:ext>
            </a:extLst>
          </p:cNvPr>
          <p:cNvCxnSpPr>
            <a:cxnSpLocks/>
          </p:cNvCxnSpPr>
          <p:nvPr/>
        </p:nvCxnSpPr>
        <p:spPr>
          <a:xfrm flipV="1">
            <a:off x="7546259" y="2995179"/>
            <a:ext cx="2802261" cy="298643"/>
          </a:xfrm>
          <a:prstGeom prst="straightConnector1">
            <a:avLst/>
          </a:prstGeom>
          <a:ln>
            <a:solidFill>
              <a:schemeClr val="accent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44AA853-F469-34A0-1D11-8255FE52093B}"/>
              </a:ext>
            </a:extLst>
          </p:cNvPr>
          <p:cNvSpPr txBox="1"/>
          <p:nvPr/>
        </p:nvSpPr>
        <p:spPr>
          <a:xfrm>
            <a:off x="7844987" y="2459576"/>
            <a:ext cx="1972015" cy="552139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ja-JP" altLang="en-US" sz="1600">
                <a:solidFill>
                  <a:schemeClr val="accent1"/>
                </a:solidFill>
                <a:cs typeface="Arial" panose="020B0604020202020204" pitchFamily="34" charset="0"/>
              </a:rPr>
              <a:t>年平均成長率</a:t>
            </a:r>
            <a:r>
              <a:rPr lang="en-US" altLang="ja-JP" sz="1600" b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2800" b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ja-JP" sz="1600" b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2F1EBC0-3780-61C4-C0DC-28D6C543B123}"/>
              </a:ext>
            </a:extLst>
          </p:cNvPr>
          <p:cNvSpPr txBox="1"/>
          <p:nvPr/>
        </p:nvSpPr>
        <p:spPr>
          <a:xfrm>
            <a:off x="7883087" y="2420071"/>
            <a:ext cx="1181734" cy="273023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>
              <a:lnSpc>
                <a:spcPct val="117000"/>
              </a:lnSpc>
            </a:pPr>
            <a:r>
              <a:rPr lang="en-US" altLang="ja-JP" sz="1050" b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FY2020-2023</a:t>
            </a:r>
            <a:endParaRPr lang="en-US" altLang="ja-JP" sz="1200" b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86962085-04C3-8D57-0F99-C99B0A501E91}"/>
              </a:ext>
            </a:extLst>
          </p:cNvPr>
          <p:cNvCxnSpPr>
            <a:cxnSpLocks/>
          </p:cNvCxnSpPr>
          <p:nvPr/>
        </p:nvCxnSpPr>
        <p:spPr>
          <a:xfrm flipV="1">
            <a:off x="2215723" y="3548703"/>
            <a:ext cx="4434459" cy="235938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B76A61C-67B1-456E-793D-19B2C954B851}"/>
              </a:ext>
            </a:extLst>
          </p:cNvPr>
          <p:cNvSpPr txBox="1"/>
          <p:nvPr/>
        </p:nvSpPr>
        <p:spPr>
          <a:xfrm>
            <a:off x="2495434" y="4109610"/>
            <a:ext cx="2185214" cy="55213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ja-JP" altLang="en-US" sz="1600">
                <a:solidFill>
                  <a:schemeClr val="tx1"/>
                </a:solidFill>
                <a:cs typeface="Arial" panose="020B0604020202020204" pitchFamily="34" charset="0"/>
              </a:rPr>
              <a:t>年平均成長率</a:t>
            </a:r>
            <a:r>
              <a:rPr lang="en-US" altLang="ja-JP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2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74</a:t>
            </a:r>
            <a:r>
              <a:rPr lang="en-US" altLang="ja-JP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28C63CA-936E-7DA5-F442-D64A2987438E}"/>
              </a:ext>
            </a:extLst>
          </p:cNvPr>
          <p:cNvSpPr txBox="1"/>
          <p:nvPr/>
        </p:nvSpPr>
        <p:spPr>
          <a:xfrm>
            <a:off x="2538976" y="4080607"/>
            <a:ext cx="1144865" cy="26475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>
              <a:lnSpc>
                <a:spcPct val="117000"/>
              </a:lnSpc>
            </a:pPr>
            <a:r>
              <a:rPr lang="en-US" altLang="ja-JP" sz="105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FY2014-2019</a:t>
            </a:r>
            <a:endParaRPr lang="en-US" altLang="ja-JP" sz="12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95130C53-B993-EE94-2F94-455DC790C1CD}"/>
              </a:ext>
            </a:extLst>
          </p:cNvPr>
          <p:cNvSpPr/>
          <p:nvPr/>
        </p:nvSpPr>
        <p:spPr>
          <a:xfrm>
            <a:off x="1360403" y="2193663"/>
            <a:ext cx="3554844" cy="37380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ja-JP" sz="1400" b="1" spc="100" dirty="0">
                <a:solidFill>
                  <a:schemeClr val="accent1"/>
                </a:solidFill>
              </a:rPr>
              <a:t>ABC</a:t>
            </a:r>
            <a:r>
              <a:rPr kumimoji="1" lang="ja-JP" altLang="en-US" sz="1400" b="1" spc="100">
                <a:solidFill>
                  <a:schemeClr val="accent1"/>
                </a:solidFill>
              </a:rPr>
              <a:t>事業 売上高の推移（単位：億）</a:t>
            </a:r>
          </a:p>
        </p:txBody>
      </p:sp>
    </p:spTree>
    <p:extLst>
      <p:ext uri="{BB962C8B-B14F-4D97-AF65-F5344CB8AC3E}">
        <p14:creationId xmlns:p14="http://schemas.microsoft.com/office/powerpoint/2010/main" val="1769972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1672-DA81-BE38-8753-21E706FAD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片側の 2 つの角を丸めた四角形 33">
            <a:extLst>
              <a:ext uri="{FF2B5EF4-FFF2-40B4-BE49-F238E27FC236}">
                <a16:creationId xmlns:a16="http://schemas.microsoft.com/office/drawing/2014/main" id="{FE1B5825-2EF1-F52E-7120-6EFD2468EAB7}"/>
              </a:ext>
            </a:extLst>
          </p:cNvPr>
          <p:cNvSpPr/>
          <p:nvPr/>
        </p:nvSpPr>
        <p:spPr>
          <a:xfrm>
            <a:off x="9348776" y="2908601"/>
            <a:ext cx="2075262" cy="3330587"/>
          </a:xfrm>
          <a:prstGeom prst="round2SameRect">
            <a:avLst>
              <a:gd name="adj1" fmla="val 6499"/>
              <a:gd name="adj2" fmla="val 0"/>
            </a:avLst>
          </a:prstGeom>
          <a:pattFill prst="wdUpDiag">
            <a:fgClr>
              <a:srgbClr val="ECF6FC"/>
            </a:fgClr>
            <a:bgClr>
              <a:schemeClr val="bg1"/>
            </a:bgClr>
          </a:patt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spc="100">
              <a:solidFill>
                <a:schemeClr val="accent1"/>
              </a:solidFill>
            </a:endParaRP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D67F479-A585-472B-4021-F80951A757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94646" y="1109400"/>
            <a:ext cx="9618018" cy="793038"/>
          </a:xfrm>
        </p:spPr>
        <p:txBody>
          <a:bodyPr/>
          <a:lstStyle/>
          <a:p>
            <a:r>
              <a:rPr lang="ja-JP" altLang="en-US"/>
              <a:t>売上頭打ちの要因は</a:t>
            </a:r>
            <a:r>
              <a:rPr lang="ja-JP" altLang="en-US">
                <a:solidFill>
                  <a:schemeClr val="accent1"/>
                </a:solidFill>
              </a:rPr>
              <a:t>新規顧客獲得数の鈍化。</a:t>
            </a:r>
          </a:p>
          <a:p>
            <a:r>
              <a:rPr lang="ja-JP" altLang="en-US"/>
              <a:t>業界特性上、顧客単価の向上が難しいため、獲得数の回復が急務。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83992A2-FE88-76AA-593D-8A54BEE0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454" y="6659485"/>
            <a:ext cx="2340384" cy="138499"/>
          </a:xfrm>
        </p:spPr>
        <p:txBody>
          <a:bodyPr/>
          <a:lstStyle/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A0C4700-3632-53B4-FF22-2E2D00CD3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5674" y="6464778"/>
            <a:ext cx="568569" cy="365125"/>
          </a:xfrm>
        </p:spPr>
        <p:txBody>
          <a:bodyPr/>
          <a:lstStyle/>
          <a:p>
            <a:fld id="{3B885C3E-5C69-C74B-88D2-3CD82C73D522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A3B567-C9B4-BE8E-191E-2AB9D00AC1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197" y="366204"/>
            <a:ext cx="1949252" cy="249299"/>
          </a:xfrm>
        </p:spPr>
        <p:txBody>
          <a:bodyPr/>
          <a:lstStyle/>
          <a:p>
            <a:r>
              <a:rPr lang="ja-JP" altLang="en-US"/>
              <a:t>現状分析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E22D054-7C52-7275-A5AF-6A3745FA49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137" y="363705"/>
            <a:ext cx="227626" cy="221599"/>
          </a:xfrm>
        </p:spPr>
        <p:txBody>
          <a:bodyPr/>
          <a:lstStyle/>
          <a:p>
            <a:r>
              <a:rPr lang="en-US" altLang="ja-JP" dirty="0"/>
              <a:t>02</a:t>
            </a:r>
            <a:endParaRPr lang="ja-JP" altLang="en-US"/>
          </a:p>
        </p:txBody>
      </p:sp>
      <p:graphicFrame>
        <p:nvGraphicFramePr>
          <p:cNvPr id="16" name="グラフ 15">
            <a:extLst>
              <a:ext uri="{FF2B5EF4-FFF2-40B4-BE49-F238E27FC236}">
                <a16:creationId xmlns:a16="http://schemas.microsoft.com/office/drawing/2014/main" id="{739C4B13-429B-021A-2BB2-7CF8ECFD61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940551"/>
              </p:ext>
            </p:extLst>
          </p:nvPr>
        </p:nvGraphicFramePr>
        <p:xfrm>
          <a:off x="565993" y="2913681"/>
          <a:ext cx="5308600" cy="3665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グラフ 17">
            <a:extLst>
              <a:ext uri="{FF2B5EF4-FFF2-40B4-BE49-F238E27FC236}">
                <a16:creationId xmlns:a16="http://schemas.microsoft.com/office/drawing/2014/main" id="{7CD0A84B-9BD3-7D26-B5AD-9BC253DDC9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4107720"/>
              </p:ext>
            </p:extLst>
          </p:nvPr>
        </p:nvGraphicFramePr>
        <p:xfrm>
          <a:off x="6200730" y="2913681"/>
          <a:ext cx="5315243" cy="3665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4707773-9E07-900E-B740-AFFA7410CD98}"/>
              </a:ext>
            </a:extLst>
          </p:cNvPr>
          <p:cNvSpPr txBox="1"/>
          <p:nvPr/>
        </p:nvSpPr>
        <p:spPr>
          <a:xfrm>
            <a:off x="9422040" y="2997661"/>
            <a:ext cx="1928733" cy="36324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ja-JP" altLang="en-US" sz="1600">
                <a:solidFill>
                  <a:schemeClr val="accent1"/>
                </a:solidFill>
                <a:cs typeface="Arial" panose="020B0604020202020204" pitchFamily="34" charset="0"/>
              </a:rPr>
              <a:t>獲得ペースの鈍化</a:t>
            </a:r>
            <a:endParaRPr lang="en-US" altLang="ja-JP" sz="1600" b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761FF043-27EC-387F-0CDE-62C94F8FF22E}"/>
              </a:ext>
            </a:extLst>
          </p:cNvPr>
          <p:cNvSpPr/>
          <p:nvPr/>
        </p:nvSpPr>
        <p:spPr>
          <a:xfrm>
            <a:off x="1265129" y="2194140"/>
            <a:ext cx="3910328" cy="452301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spc="100">
                <a:solidFill>
                  <a:schemeClr val="accent1"/>
                </a:solidFill>
              </a:rPr>
              <a:t>顧客単価の推移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CA805C88-740D-31E3-33E4-89CCE0B56E25}"/>
              </a:ext>
            </a:extLst>
          </p:cNvPr>
          <p:cNvSpPr/>
          <p:nvPr/>
        </p:nvSpPr>
        <p:spPr>
          <a:xfrm>
            <a:off x="6931454" y="2194140"/>
            <a:ext cx="3910328" cy="452301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spc="100">
                <a:solidFill>
                  <a:schemeClr val="accent1"/>
                </a:solidFill>
              </a:rPr>
              <a:t>新規顧客獲得数の推移</a:t>
            </a:r>
          </a:p>
        </p:txBody>
      </p:sp>
    </p:spTree>
    <p:extLst>
      <p:ext uri="{BB962C8B-B14F-4D97-AF65-F5344CB8AC3E}">
        <p14:creationId xmlns:p14="http://schemas.microsoft.com/office/powerpoint/2010/main" val="1464025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09E8A-0A2E-4596-A750-BCC3D0FB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D67AA0F-81BF-97DC-7FB0-4AC03855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454" y="6659485"/>
            <a:ext cx="2340384" cy="138499"/>
          </a:xfrm>
        </p:spPr>
        <p:txBody>
          <a:bodyPr/>
          <a:lstStyle/>
          <a:p>
            <a:r>
              <a:rPr lang="en" altLang="ja-JP" dirty="0"/>
              <a:t>© 2025 Company Name. All Right Reserved.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0B4F6D-4023-6C4B-C8F6-4DBB3B34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5674" y="6464778"/>
            <a:ext cx="568569" cy="365125"/>
          </a:xfrm>
        </p:spPr>
        <p:txBody>
          <a:bodyPr/>
          <a:lstStyle/>
          <a:p>
            <a:fld id="{3B885C3E-5C69-C74B-88D2-3CD82C73D522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710C63E-94FF-9860-E60B-19F934217F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197" y="366204"/>
            <a:ext cx="1949252" cy="249299"/>
          </a:xfrm>
        </p:spPr>
        <p:txBody>
          <a:bodyPr/>
          <a:lstStyle/>
          <a:p>
            <a:r>
              <a:rPr lang="ja-JP" altLang="en-US"/>
              <a:t>現状分析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2BAFC569-307A-86DD-945D-B2CAD891DD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137" y="363705"/>
            <a:ext cx="227626" cy="221599"/>
          </a:xfrm>
        </p:spPr>
        <p:txBody>
          <a:bodyPr/>
          <a:lstStyle/>
          <a:p>
            <a:r>
              <a:rPr lang="en-US" altLang="ja-JP" dirty="0"/>
              <a:t>02</a:t>
            </a:r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029D357F-6C46-BE91-28E1-F5AAC988C43F}"/>
              </a:ext>
            </a:extLst>
          </p:cNvPr>
          <p:cNvSpPr/>
          <p:nvPr/>
        </p:nvSpPr>
        <p:spPr>
          <a:xfrm>
            <a:off x="363664" y="2192238"/>
            <a:ext cx="11538283" cy="4307826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spc="100">
              <a:solidFill>
                <a:schemeClr val="accent1"/>
              </a:solidFill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C2623806-D1AA-61F6-5E19-96E36EF45ECB}"/>
              </a:ext>
            </a:extLst>
          </p:cNvPr>
          <p:cNvSpPr txBox="1"/>
          <p:nvPr/>
        </p:nvSpPr>
        <p:spPr>
          <a:xfrm>
            <a:off x="706154" y="1038772"/>
            <a:ext cx="10764485" cy="93429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ja-JP" altLang="en-US">
                <a:solidFill>
                  <a:schemeClr val="tx1"/>
                </a:solidFill>
              </a:rPr>
              <a:t>根本要因は</a:t>
            </a:r>
            <a:r>
              <a:rPr lang="en-US" altLang="ja-JP" dirty="0">
                <a:solidFill>
                  <a:schemeClr val="accent1"/>
                </a:solidFill>
              </a:rPr>
              <a:t>Web</a:t>
            </a:r>
            <a:r>
              <a:rPr lang="ja-JP" altLang="en-US">
                <a:solidFill>
                  <a:schemeClr val="accent1"/>
                </a:solidFill>
              </a:rPr>
              <a:t>広告の頭打ちとチャネル開拓不足</a:t>
            </a:r>
            <a:r>
              <a:rPr lang="ja-JP" altLang="en-US">
                <a:solidFill>
                  <a:schemeClr val="tx1"/>
                </a:solidFill>
              </a:rPr>
              <a:t>。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>
              <a:lnSpc>
                <a:spcPct val="117000"/>
              </a:lnSpc>
            </a:pPr>
            <a:r>
              <a:rPr lang="ja-JP" altLang="en-US">
                <a:solidFill>
                  <a:schemeClr val="tx1"/>
                </a:solidFill>
              </a:rPr>
              <a:t>新しいチャネルを開拓しない限り、新規顧客獲得の増加は期待できない。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E2D42AAE-C5AD-3C8D-37A4-A2A7628738B6}"/>
              </a:ext>
            </a:extLst>
          </p:cNvPr>
          <p:cNvSpPr/>
          <p:nvPr/>
        </p:nvSpPr>
        <p:spPr>
          <a:xfrm>
            <a:off x="601227" y="2426706"/>
            <a:ext cx="2293676" cy="554423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spc="100">
                <a:solidFill>
                  <a:schemeClr val="bg1"/>
                </a:solidFill>
              </a:rPr>
              <a:t>新規顧客獲得数の低下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B544272-71B3-45EA-315B-2412CDBD64C1}"/>
              </a:ext>
            </a:extLst>
          </p:cNvPr>
          <p:cNvSpPr/>
          <p:nvPr/>
        </p:nvSpPr>
        <p:spPr>
          <a:xfrm>
            <a:off x="3499851" y="2426706"/>
            <a:ext cx="2293676" cy="554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spc="100">
                <a:solidFill>
                  <a:schemeClr val="tx1"/>
                </a:solidFill>
              </a:rPr>
              <a:t>市場環境の変化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5C381C7E-45B2-18D0-8AA7-7E816C543CB8}"/>
              </a:ext>
            </a:extLst>
          </p:cNvPr>
          <p:cNvSpPr/>
          <p:nvPr/>
        </p:nvSpPr>
        <p:spPr>
          <a:xfrm>
            <a:off x="6398475" y="2426706"/>
            <a:ext cx="2293676" cy="554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spc="100">
                <a:solidFill>
                  <a:schemeClr val="tx1"/>
                </a:solidFill>
              </a:rPr>
              <a:t>顧客の変化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E6DF03C-E2E8-A0AB-8D8F-E59EB73B79FB}"/>
              </a:ext>
            </a:extLst>
          </p:cNvPr>
          <p:cNvSpPr/>
          <p:nvPr/>
        </p:nvSpPr>
        <p:spPr>
          <a:xfrm>
            <a:off x="6398475" y="3187404"/>
            <a:ext cx="2293676" cy="554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spc="100">
                <a:solidFill>
                  <a:schemeClr val="bg1">
                    <a:lumMod val="50000"/>
                  </a:schemeClr>
                </a:solidFill>
              </a:rPr>
              <a:t>競合の変化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2CF8220-451E-6325-51FD-8C9EA1926646}"/>
              </a:ext>
            </a:extLst>
          </p:cNvPr>
          <p:cNvSpPr/>
          <p:nvPr/>
        </p:nvSpPr>
        <p:spPr>
          <a:xfrm>
            <a:off x="9297097" y="2426706"/>
            <a:ext cx="2293676" cy="554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spc="100">
                <a:solidFill>
                  <a:schemeClr val="tx1"/>
                </a:solidFill>
              </a:rPr>
              <a:t>購買層の縮小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B2B00558-2809-73C1-575D-BFC7B5CC8255}"/>
              </a:ext>
            </a:extLst>
          </p:cNvPr>
          <p:cNvSpPr/>
          <p:nvPr/>
        </p:nvSpPr>
        <p:spPr>
          <a:xfrm>
            <a:off x="9297097" y="3187404"/>
            <a:ext cx="2293676" cy="554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spc="100">
                <a:solidFill>
                  <a:schemeClr val="tx1"/>
                </a:solidFill>
              </a:rPr>
              <a:t>消費者の購買力の低下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8929C8E4-8F50-EA5F-A07A-90279802AA47}"/>
              </a:ext>
            </a:extLst>
          </p:cNvPr>
          <p:cNvSpPr/>
          <p:nvPr/>
        </p:nvSpPr>
        <p:spPr>
          <a:xfrm>
            <a:off x="3499851" y="4257941"/>
            <a:ext cx="2293676" cy="554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spc="100">
                <a:solidFill>
                  <a:schemeClr val="tx1"/>
                </a:solidFill>
              </a:rPr>
              <a:t>集客施策に課題あり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3177BD55-1F99-FE91-7EB8-F7DC5DA677DD}"/>
              </a:ext>
            </a:extLst>
          </p:cNvPr>
          <p:cNvSpPr/>
          <p:nvPr/>
        </p:nvSpPr>
        <p:spPr>
          <a:xfrm>
            <a:off x="6398475" y="4257941"/>
            <a:ext cx="2293676" cy="554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spc="100">
                <a:solidFill>
                  <a:schemeClr val="tx1"/>
                </a:solidFill>
              </a:rPr>
              <a:t>既存</a:t>
            </a:r>
            <a:r>
              <a:rPr lang="ja-JP" altLang="en-US" sz="1400" b="1" spc="100">
                <a:solidFill>
                  <a:schemeClr val="tx1"/>
                </a:solidFill>
              </a:rPr>
              <a:t>チャネルの限界</a:t>
            </a:r>
            <a:endParaRPr kumimoji="1" lang="ja-JP" altLang="en-US" sz="1400" b="1" spc="100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9B2A94A0-5B91-3E55-7AB9-0C6F04950C24}"/>
              </a:ext>
            </a:extLst>
          </p:cNvPr>
          <p:cNvSpPr/>
          <p:nvPr/>
        </p:nvSpPr>
        <p:spPr>
          <a:xfrm>
            <a:off x="6398475" y="5018639"/>
            <a:ext cx="2293676" cy="55442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spc="100">
                <a:solidFill>
                  <a:schemeClr val="bg1"/>
                </a:solidFill>
              </a:rPr>
              <a:t>新チャネルの開拓不足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EA7960C1-3499-2632-2808-D474A4566683}"/>
              </a:ext>
            </a:extLst>
          </p:cNvPr>
          <p:cNvSpPr/>
          <p:nvPr/>
        </p:nvSpPr>
        <p:spPr>
          <a:xfrm>
            <a:off x="9297097" y="4257941"/>
            <a:ext cx="2293676" cy="55442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ja-JP" sz="1400" b="1" spc="100" dirty="0">
                <a:solidFill>
                  <a:schemeClr val="bg1"/>
                </a:solidFill>
              </a:rPr>
              <a:t>Web</a:t>
            </a:r>
            <a:r>
              <a:rPr kumimoji="1" lang="ja-JP" altLang="en-US" sz="1400" b="1" spc="100">
                <a:solidFill>
                  <a:schemeClr val="bg1"/>
                </a:solidFill>
              </a:rPr>
              <a:t>広告の頭打ち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8D021DC1-5082-ED73-F773-39D72D19845F}"/>
              </a:ext>
            </a:extLst>
          </p:cNvPr>
          <p:cNvSpPr/>
          <p:nvPr/>
        </p:nvSpPr>
        <p:spPr>
          <a:xfrm>
            <a:off x="9297097" y="5018639"/>
            <a:ext cx="2293676" cy="554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spc="100">
                <a:solidFill>
                  <a:schemeClr val="tx1"/>
                </a:solidFill>
              </a:rPr>
              <a:t>オフラインチャネルの</a:t>
            </a:r>
            <a:br>
              <a:rPr lang="en-US" altLang="ja-JP" sz="1400" b="1" spc="100" dirty="0">
                <a:solidFill>
                  <a:schemeClr val="tx1"/>
                </a:solidFill>
              </a:rPr>
            </a:br>
            <a:r>
              <a:rPr lang="ja-JP" altLang="en-US" sz="1400" b="1" spc="100">
                <a:solidFill>
                  <a:schemeClr val="tx1"/>
                </a:solidFill>
              </a:rPr>
              <a:t>活用不足</a:t>
            </a:r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8914B72E-5E10-D39A-1131-D533843A18C2}"/>
              </a:ext>
            </a:extLst>
          </p:cNvPr>
          <p:cNvCxnSpPr>
            <a:stCxn id="42" idx="3"/>
            <a:endCxn id="43" idx="1"/>
          </p:cNvCxnSpPr>
          <p:nvPr/>
        </p:nvCxnSpPr>
        <p:spPr>
          <a:xfrm>
            <a:off x="2894903" y="2703918"/>
            <a:ext cx="6049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B6DE9843-84BC-E545-35C0-B8E77BFD86C9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5793527" y="2703918"/>
            <a:ext cx="6049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91F45D30-11E9-EB7A-C603-20013AC00895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>
            <a:off x="8692151" y="2703918"/>
            <a:ext cx="6049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カギ線コネクタ 55">
            <a:extLst>
              <a:ext uri="{FF2B5EF4-FFF2-40B4-BE49-F238E27FC236}">
                <a16:creationId xmlns:a16="http://schemas.microsoft.com/office/drawing/2014/main" id="{D9AE8F33-6CB3-1C67-8C04-80D1B1574746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>
            <a:off x="5793527" y="2703918"/>
            <a:ext cx="604948" cy="76069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カギ線コネクタ 56">
            <a:extLst>
              <a:ext uri="{FF2B5EF4-FFF2-40B4-BE49-F238E27FC236}">
                <a16:creationId xmlns:a16="http://schemas.microsoft.com/office/drawing/2014/main" id="{AA6955C4-D254-2F9E-AD86-319E9F656131}"/>
              </a:ext>
            </a:extLst>
          </p:cNvPr>
          <p:cNvCxnSpPr>
            <a:cxnSpLocks/>
            <a:stCxn id="44" idx="3"/>
            <a:endCxn id="47" idx="1"/>
          </p:cNvCxnSpPr>
          <p:nvPr/>
        </p:nvCxnSpPr>
        <p:spPr>
          <a:xfrm>
            <a:off x="8692151" y="2703918"/>
            <a:ext cx="604946" cy="76069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カギ線コネクタ 57">
            <a:extLst>
              <a:ext uri="{FF2B5EF4-FFF2-40B4-BE49-F238E27FC236}">
                <a16:creationId xmlns:a16="http://schemas.microsoft.com/office/drawing/2014/main" id="{6DE80423-9699-0BF4-250E-8970EEFEE8C7}"/>
              </a:ext>
            </a:extLst>
          </p:cNvPr>
          <p:cNvCxnSpPr>
            <a:cxnSpLocks/>
            <a:stCxn id="42" idx="3"/>
            <a:endCxn id="48" idx="1"/>
          </p:cNvCxnSpPr>
          <p:nvPr/>
        </p:nvCxnSpPr>
        <p:spPr>
          <a:xfrm>
            <a:off x="2894903" y="2703918"/>
            <a:ext cx="604948" cy="1831235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8CC5978D-4FA9-FDD6-659F-3594EC68127F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>
            <a:off x="5793527" y="4535153"/>
            <a:ext cx="6049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2518C068-F82F-89DA-1B10-CFE6D0D4A6BD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>
            <a:off x="8692151" y="4535153"/>
            <a:ext cx="6049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カギ線コネクタ 60">
            <a:extLst>
              <a:ext uri="{FF2B5EF4-FFF2-40B4-BE49-F238E27FC236}">
                <a16:creationId xmlns:a16="http://schemas.microsoft.com/office/drawing/2014/main" id="{31163E5E-C9CF-9F72-9B1A-A240E344A846}"/>
              </a:ext>
            </a:extLst>
          </p:cNvPr>
          <p:cNvCxnSpPr>
            <a:cxnSpLocks/>
            <a:stCxn id="48" idx="3"/>
            <a:endCxn id="50" idx="1"/>
          </p:cNvCxnSpPr>
          <p:nvPr/>
        </p:nvCxnSpPr>
        <p:spPr>
          <a:xfrm>
            <a:off x="5793527" y="4535153"/>
            <a:ext cx="604948" cy="76069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D7BF69E5-E10D-E3D7-5AF0-A9450568FB1E}"/>
              </a:ext>
            </a:extLst>
          </p:cNvPr>
          <p:cNvSpPr/>
          <p:nvPr/>
        </p:nvSpPr>
        <p:spPr>
          <a:xfrm>
            <a:off x="9297097" y="5779337"/>
            <a:ext cx="2293676" cy="554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spc="100">
                <a:solidFill>
                  <a:schemeClr val="tx1"/>
                </a:solidFill>
              </a:rPr>
              <a:t>他チャネルとの連携不足</a:t>
            </a:r>
          </a:p>
        </p:txBody>
      </p:sp>
      <p:cxnSp>
        <p:nvCxnSpPr>
          <p:cNvPr id="63" name="カギ線コネクタ 62">
            <a:extLst>
              <a:ext uri="{FF2B5EF4-FFF2-40B4-BE49-F238E27FC236}">
                <a16:creationId xmlns:a16="http://schemas.microsoft.com/office/drawing/2014/main" id="{DEE29144-7502-2BD8-008E-88FA6C6EA92C}"/>
              </a:ext>
            </a:extLst>
          </p:cNvPr>
          <p:cNvCxnSpPr>
            <a:cxnSpLocks/>
            <a:stCxn id="49" idx="3"/>
            <a:endCxn id="52" idx="1"/>
          </p:cNvCxnSpPr>
          <p:nvPr/>
        </p:nvCxnSpPr>
        <p:spPr>
          <a:xfrm>
            <a:off x="8692151" y="4535153"/>
            <a:ext cx="604946" cy="76069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カギ線コネクタ 63">
            <a:extLst>
              <a:ext uri="{FF2B5EF4-FFF2-40B4-BE49-F238E27FC236}">
                <a16:creationId xmlns:a16="http://schemas.microsoft.com/office/drawing/2014/main" id="{B3F665AB-A4C2-EE91-94CD-3E0AC609B910}"/>
              </a:ext>
            </a:extLst>
          </p:cNvPr>
          <p:cNvCxnSpPr>
            <a:cxnSpLocks/>
            <a:stCxn id="49" idx="3"/>
            <a:endCxn id="62" idx="1"/>
          </p:cNvCxnSpPr>
          <p:nvPr/>
        </p:nvCxnSpPr>
        <p:spPr>
          <a:xfrm>
            <a:off x="8692151" y="4535153"/>
            <a:ext cx="604946" cy="152139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A3B951AA-FA9D-CC8C-CDD8-ED4894384B19}"/>
              </a:ext>
            </a:extLst>
          </p:cNvPr>
          <p:cNvSpPr txBox="1"/>
          <p:nvPr/>
        </p:nvSpPr>
        <p:spPr>
          <a:xfrm>
            <a:off x="6452707" y="3762583"/>
            <a:ext cx="2185214" cy="28059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ja-JP" altLang="en-US" sz="1100" b="0">
                <a:solidFill>
                  <a:schemeClr val="bg1">
                    <a:lumMod val="50000"/>
                  </a:schemeClr>
                </a:solidFill>
              </a:rPr>
              <a:t>一因だが自社では解決不可能</a:t>
            </a:r>
            <a:endParaRPr lang="en-US" altLang="ja-JP" sz="1100" b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十字形 65">
            <a:extLst>
              <a:ext uri="{FF2B5EF4-FFF2-40B4-BE49-F238E27FC236}">
                <a16:creationId xmlns:a16="http://schemas.microsoft.com/office/drawing/2014/main" id="{A2A6E91C-956F-F1E5-08CB-6391620B14F8}"/>
              </a:ext>
            </a:extLst>
          </p:cNvPr>
          <p:cNvSpPr/>
          <p:nvPr/>
        </p:nvSpPr>
        <p:spPr>
          <a:xfrm rot="18900000">
            <a:off x="8550036" y="3074646"/>
            <a:ext cx="274449" cy="274449"/>
          </a:xfrm>
          <a:prstGeom prst="plus">
            <a:avLst>
              <a:gd name="adj" fmla="val 4339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423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6F648DA-856B-50B4-F031-0C06B4EF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65C123-1867-FF29-41E0-19A716A2D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85C3E-5C69-C74B-88D2-3CD82C73D522}" type="slidenum">
              <a:rPr lang="ja-JP" altLang="en-US" smtClean="0"/>
              <a:pPr/>
              <a:t>11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4605453-46EE-17A6-7E89-5D9487C5D4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197" y="366204"/>
            <a:ext cx="1705595" cy="249299"/>
          </a:xfrm>
        </p:spPr>
        <p:txBody>
          <a:bodyPr/>
          <a:lstStyle/>
          <a:p>
            <a:r>
              <a:rPr kumimoji="1" lang="ja-JP" altLang="en-US"/>
              <a:t>解決策・打ち手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A152B936-79B3-68BE-96F6-A10F032C75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137" y="363705"/>
            <a:ext cx="227627" cy="221599"/>
          </a:xfrm>
        </p:spPr>
        <p:txBody>
          <a:bodyPr/>
          <a:lstStyle/>
          <a:p>
            <a:r>
              <a:rPr kumimoji="1" lang="en-US" altLang="ja-JP" dirty="0"/>
              <a:t>03</a:t>
            </a:r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7B1748E-F8F6-FDF4-29F2-F11A8AB996A2}"/>
              </a:ext>
            </a:extLst>
          </p:cNvPr>
          <p:cNvSpPr txBox="1"/>
          <p:nvPr/>
        </p:nvSpPr>
        <p:spPr>
          <a:xfrm>
            <a:off x="1324913" y="1038772"/>
            <a:ext cx="9526967" cy="93429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en" altLang="ja-JP" dirty="0">
                <a:solidFill>
                  <a:schemeClr val="tx1"/>
                </a:solidFill>
              </a:rPr>
              <a:t>SNS</a:t>
            </a:r>
            <a:r>
              <a:rPr lang="ja-JP" altLang="en-US">
                <a:solidFill>
                  <a:schemeClr val="tx1"/>
                </a:solidFill>
              </a:rPr>
              <a:t>運用は、</a:t>
            </a:r>
            <a:r>
              <a:rPr lang="ja-JP" altLang="en-US">
                <a:solidFill>
                  <a:schemeClr val="accent1"/>
                </a:solidFill>
              </a:rPr>
              <a:t>期待できる集客数、ノウハウの蓄積、コスト効率、</a:t>
            </a:r>
            <a:endParaRPr lang="en-US" altLang="ja-JP" dirty="0">
              <a:solidFill>
                <a:schemeClr val="accent1"/>
              </a:solidFill>
            </a:endParaRPr>
          </a:p>
          <a:p>
            <a:pPr algn="ctr">
              <a:lnSpc>
                <a:spcPct val="117000"/>
              </a:lnSpc>
            </a:pPr>
            <a:r>
              <a:rPr lang="ja-JP" altLang="en-US">
                <a:solidFill>
                  <a:schemeClr val="accent1"/>
                </a:solidFill>
              </a:rPr>
              <a:t>リソースの柔軟性</a:t>
            </a:r>
            <a:r>
              <a:rPr lang="ja-JP" altLang="en-US">
                <a:solidFill>
                  <a:schemeClr val="tx1"/>
                </a:solidFill>
              </a:rPr>
              <a:t>において他の施策を上回る優位性がある</a:t>
            </a:r>
            <a:endParaRPr lang="en-US" altLang="ja-JP" dirty="0">
              <a:solidFill>
                <a:schemeClr val="tx1"/>
              </a:solidFill>
            </a:endParaRP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C0515185-FB90-E40A-2B4A-F7DBCB704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346068"/>
              </p:ext>
            </p:extLst>
          </p:nvPr>
        </p:nvGraphicFramePr>
        <p:xfrm>
          <a:off x="552907" y="2181782"/>
          <a:ext cx="11086185" cy="43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185">
                  <a:extLst>
                    <a:ext uri="{9D8B030D-6E8A-4147-A177-3AD203B41FA5}">
                      <a16:colId xmlns:a16="http://schemas.microsoft.com/office/drawing/2014/main" val="3985525991"/>
                    </a:ext>
                  </a:extLst>
                </a:gridCol>
                <a:gridCol w="684307">
                  <a:extLst>
                    <a:ext uri="{9D8B030D-6E8A-4147-A177-3AD203B41FA5}">
                      <a16:colId xmlns:a16="http://schemas.microsoft.com/office/drawing/2014/main" val="2150578206"/>
                    </a:ext>
                  </a:extLst>
                </a:gridCol>
                <a:gridCol w="1691693">
                  <a:extLst>
                    <a:ext uri="{9D8B030D-6E8A-4147-A177-3AD203B41FA5}">
                      <a16:colId xmlns:a16="http://schemas.microsoft.com/office/drawing/2014/main" val="1586837669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4045718672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269834497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14876936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106141240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668599267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812029796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kumimoji="1" lang="ja-JP" altLang="en-US" sz="1400" b="1" i="0">
                        <a:solidFill>
                          <a:schemeClr val="tx1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 i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メルマガ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 i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インフルエンサー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600" b="1" i="0" dirty="0">
                          <a:solidFill>
                            <a:schemeClr val="bg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SNS</a:t>
                      </a:r>
                      <a:r>
                        <a:rPr kumimoji="1" lang="ja-JP" altLang="en-US" sz="1600" b="1" i="0">
                          <a:solidFill>
                            <a:schemeClr val="bg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運用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 i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オウンドメディア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65946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 i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期待集客数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△</a:t>
                      </a:r>
                      <a:endParaRPr kumimoji="1" lang="ja-JP" altLang="en-US" sz="1400" b="1" i="0">
                        <a:solidFill>
                          <a:schemeClr val="bg1">
                            <a:lumMod val="75000"/>
                          </a:schemeClr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既存顧客を中心とした小規模な集客に適している。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4846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i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◯</a:t>
                      </a:r>
                      <a:endParaRPr kumimoji="1" lang="ja-JP" altLang="en-US" sz="1400" b="1" i="0">
                        <a:solidFill>
                          <a:schemeClr val="accent1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kumimoji="1" lang="ja-JP" altLang="en-US" sz="900" b="1" i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フォロワー数の多いインフルエンサーを活用すれば短期間で大規模集客が可能。</a:t>
                      </a:r>
                      <a:endParaRPr kumimoji="1" lang="ja-JP" altLang="en-US" sz="1000" b="1" i="0">
                        <a:solidFill>
                          <a:schemeClr val="tx1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i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◯</a:t>
                      </a:r>
                      <a:endParaRPr kumimoji="1" lang="ja-JP" altLang="en-US" sz="1400" b="1" i="0">
                        <a:solidFill>
                          <a:schemeClr val="accent1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利用者数が多く、アルゴリズムによる拡散効果で大規模なリーチが期待できる。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△</a:t>
                      </a:r>
                      <a:endParaRPr kumimoji="1" lang="ja-JP" altLang="en-US" sz="1400" b="1" i="0">
                        <a:solidFill>
                          <a:schemeClr val="bg1">
                            <a:lumMod val="75000"/>
                          </a:schemeClr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継続的なコンテンツ発信により、</a:t>
                      </a:r>
                      <a:r>
                        <a:rPr kumimoji="1" lang="en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SEO</a:t>
                      </a: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効果で安定した集客が期待できるが成果まで時間を要する。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4846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987921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 i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ノウハウの有無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 i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メール配信ツールの操作や</a:t>
                      </a:r>
                      <a:r>
                        <a:rPr kumimoji="1" lang="en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LINE</a:t>
                      </a: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公式アカウントの運用経験が豊富。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4846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インフルエンサーとの契約交渉やコラボレーション企画の経験が少ないため、外部支援が必要。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4846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 i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◯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過去に</a:t>
                      </a:r>
                      <a:r>
                        <a:rPr kumimoji="1" lang="en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SNS</a:t>
                      </a: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運用を行った経験があり、コンテンツ企画や投稿作成、広告運用のノウハウが社内に蓄積されている。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 i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◯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SEO</a:t>
                      </a: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や記事制作に関する経験が豊富で、専門的な知識を持つスタッフがいる。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4846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876978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 i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必要コスト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 i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初期費用がほぼ不要で運用コストも低い。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4846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b="1" i="0" dirty="0">
                          <a:solidFill>
                            <a:schemeClr val="accent2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×</a:t>
                      </a:r>
                      <a:endParaRPr kumimoji="1" lang="ja-JP" altLang="en-US" sz="2000" b="1" i="0">
                        <a:solidFill>
                          <a:schemeClr val="accent2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影響力の大きいインフルエンサーほど高コストだが、費用対効果は高い。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4846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 i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◯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投稿の内製化が可能なためコストが抑えられるが、広告費は運用規模による。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△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初期コンテンツ制作にコストがかかるが、運用段階では低コスト。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4846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045546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 i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必要リソース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テンプレート化すれば配信作業の負担は少なく、</a:t>
                      </a:r>
                      <a: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1</a:t>
                      </a: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名で運用可能。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4846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b="1" i="0" dirty="0">
                          <a:solidFill>
                            <a:schemeClr val="accent2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×</a:t>
                      </a:r>
                      <a:endParaRPr kumimoji="1" lang="ja-JP" altLang="en-US" sz="2000" b="1" i="0">
                        <a:solidFill>
                          <a:schemeClr val="accent2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選定や契約交渉にリソースが必要だが、短期施策として効率的。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4846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△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少人数で対応可能。デザインやデータ分析スキルを持つスタッフが必要。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b="1" i="0" dirty="0">
                          <a:solidFill>
                            <a:schemeClr val="accent2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×</a:t>
                      </a:r>
                      <a:endParaRPr kumimoji="1" lang="ja-JP" altLang="en-US" sz="2000" b="1" i="0">
                        <a:solidFill>
                          <a:schemeClr val="accent2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記事制作や</a:t>
                      </a:r>
                      <a:r>
                        <a:rPr kumimoji="1" lang="en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SEO</a:t>
                      </a:r>
                      <a:r>
                        <a:rPr kumimoji="1" lang="ja-JP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4846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対策の専門スキルが必要で一定の工数がかかる。</a:t>
                      </a:r>
                      <a:endParaRPr kumimoji="1" lang="ja-JP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4846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615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8511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1064B-157E-4244-3FBD-538855114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4C94638-31A9-B0D0-015E-9E52F225A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9D12EE-606D-F498-5EEF-A27AF925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85C3E-5C69-C74B-88D2-3CD82C73D522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92E3C92-F39A-B21D-C7B3-FF94903C6C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197" y="366204"/>
            <a:ext cx="1705595" cy="249299"/>
          </a:xfrm>
        </p:spPr>
        <p:txBody>
          <a:bodyPr/>
          <a:lstStyle/>
          <a:p>
            <a:r>
              <a:rPr kumimoji="1" lang="ja-JP" altLang="en-US"/>
              <a:t>解決策・打ち手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59B03632-8C10-58EC-A1C5-0F2F13990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137" y="363705"/>
            <a:ext cx="227627" cy="221599"/>
          </a:xfrm>
        </p:spPr>
        <p:txBody>
          <a:bodyPr/>
          <a:lstStyle/>
          <a:p>
            <a:r>
              <a:rPr kumimoji="1" lang="en-US" altLang="ja-JP" dirty="0"/>
              <a:t>03</a:t>
            </a:r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144CE15-C3D9-0E13-3FBF-3DEB4D391630}"/>
              </a:ext>
            </a:extLst>
          </p:cNvPr>
          <p:cNvSpPr txBox="1"/>
          <p:nvPr/>
        </p:nvSpPr>
        <p:spPr>
          <a:xfrm>
            <a:off x="2499118" y="1038772"/>
            <a:ext cx="7178568" cy="93429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ja-JP" altLang="en-US">
                <a:solidFill>
                  <a:schemeClr val="tx1"/>
                </a:solidFill>
              </a:rPr>
              <a:t>媒体は</a:t>
            </a:r>
            <a:r>
              <a:rPr lang="en-US" altLang="ja-JP" dirty="0">
                <a:solidFill>
                  <a:schemeClr val="tx1"/>
                </a:solidFill>
              </a:rPr>
              <a:t>Instagram</a:t>
            </a:r>
            <a:r>
              <a:rPr lang="ja-JP" altLang="en-US">
                <a:solidFill>
                  <a:schemeClr val="tx1"/>
                </a:solidFill>
              </a:rPr>
              <a:t>と</a:t>
            </a:r>
            <a:r>
              <a:rPr lang="en-US" altLang="ja-JP" dirty="0">
                <a:solidFill>
                  <a:schemeClr val="tx1"/>
                </a:solidFill>
              </a:rPr>
              <a:t>TikTok</a:t>
            </a:r>
            <a:r>
              <a:rPr lang="ja-JP" altLang="en-US">
                <a:solidFill>
                  <a:schemeClr val="tx1"/>
                </a:solidFill>
              </a:rPr>
              <a:t>の２つとする。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>
              <a:lnSpc>
                <a:spcPct val="117000"/>
              </a:lnSpc>
            </a:pPr>
            <a:r>
              <a:rPr lang="ja-JP" altLang="en-US">
                <a:solidFill>
                  <a:schemeClr val="tx1"/>
                </a:solidFill>
              </a:rPr>
              <a:t>主要ターゲットの</a:t>
            </a:r>
            <a:r>
              <a:rPr lang="en-US" altLang="ja-JP" dirty="0">
                <a:solidFill>
                  <a:schemeClr val="accent1"/>
                </a:solidFill>
              </a:rPr>
              <a:t>20-30</a:t>
            </a:r>
            <a:r>
              <a:rPr lang="ja-JP" altLang="en-US">
                <a:solidFill>
                  <a:schemeClr val="accent1"/>
                </a:solidFill>
              </a:rPr>
              <a:t>代の利用率が高い</a:t>
            </a:r>
            <a:r>
              <a:rPr lang="ja-JP" altLang="en-US">
                <a:solidFill>
                  <a:schemeClr val="tx1"/>
                </a:solidFill>
              </a:rPr>
              <a:t>ため。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26" name="角丸四角形 25">
            <a:extLst>
              <a:ext uri="{FF2B5EF4-FFF2-40B4-BE49-F238E27FC236}">
                <a16:creationId xmlns:a16="http://schemas.microsoft.com/office/drawing/2014/main" id="{15AC2777-BD8C-7AB0-7E08-B349F0BB396A}"/>
              </a:ext>
            </a:extLst>
          </p:cNvPr>
          <p:cNvSpPr/>
          <p:nvPr/>
        </p:nvSpPr>
        <p:spPr>
          <a:xfrm>
            <a:off x="1410736" y="2411115"/>
            <a:ext cx="4301361" cy="452301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spc="100" dirty="0">
                <a:solidFill>
                  <a:schemeClr val="accent1"/>
                </a:solidFill>
              </a:rPr>
              <a:t>Instagram</a:t>
            </a:r>
            <a:r>
              <a:rPr kumimoji="1" lang="ja-JP" altLang="en-US" sz="1600" b="1" spc="100">
                <a:solidFill>
                  <a:schemeClr val="accent1"/>
                </a:solidFill>
              </a:rPr>
              <a:t>ユーザー属性</a:t>
            </a:r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B10D19A0-4746-C29D-350F-C28222363B4A}"/>
              </a:ext>
            </a:extLst>
          </p:cNvPr>
          <p:cNvSpPr/>
          <p:nvPr/>
        </p:nvSpPr>
        <p:spPr>
          <a:xfrm>
            <a:off x="6479903" y="2411115"/>
            <a:ext cx="4301361" cy="452301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ja-JP" sz="1600" b="1" spc="100" dirty="0">
                <a:solidFill>
                  <a:schemeClr val="accent1"/>
                </a:solidFill>
              </a:rPr>
              <a:t>TikTok</a:t>
            </a:r>
            <a:r>
              <a:rPr lang="ja-JP" altLang="en-US" sz="1600" b="1" spc="100">
                <a:solidFill>
                  <a:schemeClr val="accent1"/>
                </a:solidFill>
              </a:rPr>
              <a:t>ユーザー属性</a:t>
            </a:r>
          </a:p>
        </p:txBody>
      </p:sp>
      <p:graphicFrame>
        <p:nvGraphicFramePr>
          <p:cNvPr id="28" name="グラフ 27">
            <a:extLst>
              <a:ext uri="{FF2B5EF4-FFF2-40B4-BE49-F238E27FC236}">
                <a16:creationId xmlns:a16="http://schemas.microsoft.com/office/drawing/2014/main" id="{A51A3026-E3FD-6FCD-EAF9-91BDB6B7DB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7878430"/>
              </p:ext>
            </p:extLst>
          </p:nvPr>
        </p:nvGraphicFramePr>
        <p:xfrm>
          <a:off x="1468668" y="3430486"/>
          <a:ext cx="4097616" cy="2916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79A9B43-9216-1CE5-E765-81395578C6E8}"/>
              </a:ext>
            </a:extLst>
          </p:cNvPr>
          <p:cNvSpPr txBox="1"/>
          <p:nvPr/>
        </p:nvSpPr>
        <p:spPr>
          <a:xfrm>
            <a:off x="2750279" y="4562161"/>
            <a:ext cx="1534394" cy="73866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ja-JP" altLang="en-US" sz="1400">
                <a:solidFill>
                  <a:schemeClr val="tx1"/>
                </a:solidFill>
              </a:rPr>
              <a:t>総ユーザー数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ja-JP" sz="2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3,300</a:t>
            </a:r>
            <a:r>
              <a:rPr lang="ja-JP" altLang="en-US" sz="1400">
                <a:solidFill>
                  <a:schemeClr val="tx1"/>
                </a:solidFill>
              </a:rPr>
              <a:t>万人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59778F1-7F79-2BB0-C4DC-84120D5F42FD}"/>
              </a:ext>
            </a:extLst>
          </p:cNvPr>
          <p:cNvSpPr txBox="1"/>
          <p:nvPr/>
        </p:nvSpPr>
        <p:spPr>
          <a:xfrm>
            <a:off x="4608513" y="3573076"/>
            <a:ext cx="883575" cy="58477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ja-JP" sz="1200" dirty="0">
                <a:solidFill>
                  <a:schemeClr val="accent1"/>
                </a:solidFill>
              </a:rPr>
              <a:t>10</a:t>
            </a:r>
            <a:r>
              <a:rPr lang="ja-JP" altLang="en-US" sz="1200">
                <a:solidFill>
                  <a:schemeClr val="accent1"/>
                </a:solidFill>
              </a:rPr>
              <a:t>代</a:t>
            </a:r>
            <a:endParaRPr lang="en-US" altLang="ja-JP" sz="1200" dirty="0">
              <a:solidFill>
                <a:schemeClr val="accent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ja-JP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30.7</a:t>
            </a:r>
            <a:r>
              <a:rPr lang="en-US" altLang="ja-JP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A0A8499-EB16-9526-1036-0FAC9EAC6B28}"/>
              </a:ext>
            </a:extLst>
          </p:cNvPr>
          <p:cNvSpPr txBox="1"/>
          <p:nvPr/>
        </p:nvSpPr>
        <p:spPr>
          <a:xfrm>
            <a:off x="4434510" y="5736610"/>
            <a:ext cx="872355" cy="58477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ja-JP" sz="1200" dirty="0">
                <a:solidFill>
                  <a:schemeClr val="accent1"/>
                </a:solidFill>
              </a:rPr>
              <a:t>20</a:t>
            </a:r>
            <a:r>
              <a:rPr lang="ja-JP" altLang="en-US" sz="1200">
                <a:solidFill>
                  <a:schemeClr val="accent1"/>
                </a:solidFill>
              </a:rPr>
              <a:t>代</a:t>
            </a:r>
            <a:endParaRPr lang="en-US" altLang="ja-JP" sz="1200" dirty="0">
              <a:solidFill>
                <a:schemeClr val="accent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ja-JP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45.2</a:t>
            </a:r>
            <a:r>
              <a:rPr lang="en-US" altLang="ja-JP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450DABAB-D5FC-579F-1A9A-D0456572D5F8}"/>
              </a:ext>
            </a:extLst>
          </p:cNvPr>
          <p:cNvSpPr txBox="1"/>
          <p:nvPr/>
        </p:nvSpPr>
        <p:spPr>
          <a:xfrm>
            <a:off x="1528025" y="5361053"/>
            <a:ext cx="872355" cy="58477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ja-JP" sz="1200" dirty="0">
                <a:solidFill>
                  <a:schemeClr val="accent1"/>
                </a:solidFill>
              </a:rPr>
              <a:t>30</a:t>
            </a:r>
            <a:r>
              <a:rPr lang="ja-JP" altLang="en-US" sz="1200">
                <a:solidFill>
                  <a:schemeClr val="accent1"/>
                </a:solidFill>
              </a:rPr>
              <a:t>代</a:t>
            </a:r>
            <a:endParaRPr lang="en-US" altLang="ja-JP" sz="1200" dirty="0">
              <a:solidFill>
                <a:schemeClr val="accent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ja-JP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30.3</a:t>
            </a:r>
            <a:r>
              <a:rPr lang="en-US" altLang="ja-JP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5673926-BB70-25EE-349C-2DB669DF91D3}"/>
              </a:ext>
            </a:extLst>
          </p:cNvPr>
          <p:cNvSpPr txBox="1"/>
          <p:nvPr/>
        </p:nvSpPr>
        <p:spPr>
          <a:xfrm>
            <a:off x="1528025" y="3801674"/>
            <a:ext cx="872355" cy="58477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40</a:t>
            </a:r>
            <a:r>
              <a:rPr lang="ja-JP" altLang="en-US" sz="1200">
                <a:solidFill>
                  <a:schemeClr val="tx1"/>
                </a:solidFill>
              </a:rPr>
              <a:t>代</a:t>
            </a:r>
            <a:endParaRPr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16.0</a:t>
            </a:r>
            <a:r>
              <a:rPr lang="en-US" altLang="ja-JP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540897D-49C0-D3A9-AE88-496C01C9F326}"/>
              </a:ext>
            </a:extLst>
          </p:cNvPr>
          <p:cNvSpPr txBox="1"/>
          <p:nvPr/>
        </p:nvSpPr>
        <p:spPr>
          <a:xfrm>
            <a:off x="2295468" y="3124038"/>
            <a:ext cx="872355" cy="58477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50</a:t>
            </a:r>
            <a:r>
              <a:rPr lang="ja-JP" altLang="en-US" sz="1200">
                <a:solidFill>
                  <a:schemeClr val="tx1"/>
                </a:solidFill>
              </a:rPr>
              <a:t>代</a:t>
            </a:r>
            <a:endParaRPr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12.1</a:t>
            </a:r>
            <a:r>
              <a:rPr lang="en-US" altLang="ja-JP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graphicFrame>
        <p:nvGraphicFramePr>
          <p:cNvPr id="35" name="グラフ 34">
            <a:extLst>
              <a:ext uri="{FF2B5EF4-FFF2-40B4-BE49-F238E27FC236}">
                <a16:creationId xmlns:a16="http://schemas.microsoft.com/office/drawing/2014/main" id="{12803F0A-7FB0-4AAF-50AF-F12ED397A8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1974251"/>
              </p:ext>
            </p:extLst>
          </p:nvPr>
        </p:nvGraphicFramePr>
        <p:xfrm>
          <a:off x="6639289" y="3430486"/>
          <a:ext cx="4097616" cy="2916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28C9B7B-155C-F1D2-8AB2-D5801FD041A9}"/>
              </a:ext>
            </a:extLst>
          </p:cNvPr>
          <p:cNvSpPr txBox="1"/>
          <p:nvPr/>
        </p:nvSpPr>
        <p:spPr>
          <a:xfrm>
            <a:off x="7920900" y="4562161"/>
            <a:ext cx="1534395" cy="73866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ja-JP" altLang="en-US" sz="1400">
                <a:solidFill>
                  <a:schemeClr val="tx1"/>
                </a:solidFill>
              </a:rPr>
              <a:t>総ユーザー数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ja-JP" sz="2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1,700</a:t>
            </a:r>
            <a:r>
              <a:rPr lang="ja-JP" altLang="en-US" sz="1400">
                <a:solidFill>
                  <a:schemeClr val="tx1"/>
                </a:solidFill>
              </a:rPr>
              <a:t>万人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EB8C255-D5BB-6399-22EE-EAC9774468B0}"/>
              </a:ext>
            </a:extLst>
          </p:cNvPr>
          <p:cNvSpPr txBox="1"/>
          <p:nvPr/>
        </p:nvSpPr>
        <p:spPr>
          <a:xfrm>
            <a:off x="9463172" y="3314476"/>
            <a:ext cx="883575" cy="58477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ja-JP" sz="1200" dirty="0">
                <a:solidFill>
                  <a:schemeClr val="accent1"/>
                </a:solidFill>
              </a:rPr>
              <a:t>10</a:t>
            </a:r>
            <a:r>
              <a:rPr lang="ja-JP" altLang="en-US" sz="1200">
                <a:solidFill>
                  <a:schemeClr val="accent1"/>
                </a:solidFill>
              </a:rPr>
              <a:t>代</a:t>
            </a:r>
            <a:endParaRPr lang="en-US" altLang="ja-JP" sz="1200" dirty="0">
              <a:solidFill>
                <a:schemeClr val="accent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ja-JP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16.9</a:t>
            </a:r>
            <a:r>
              <a:rPr lang="en-US" altLang="ja-JP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E280DD7-3837-D828-2A7E-04DE88E76554}"/>
              </a:ext>
            </a:extLst>
          </p:cNvPr>
          <p:cNvSpPr txBox="1"/>
          <p:nvPr/>
        </p:nvSpPr>
        <p:spPr>
          <a:xfrm>
            <a:off x="10069177" y="4776278"/>
            <a:ext cx="872355" cy="58477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ja-JP" sz="1200" dirty="0">
                <a:solidFill>
                  <a:schemeClr val="accent1"/>
                </a:solidFill>
              </a:rPr>
              <a:t>20</a:t>
            </a:r>
            <a:r>
              <a:rPr lang="ja-JP" altLang="en-US" sz="1200">
                <a:solidFill>
                  <a:schemeClr val="accent1"/>
                </a:solidFill>
              </a:rPr>
              <a:t>代</a:t>
            </a:r>
            <a:endParaRPr lang="en-US" altLang="ja-JP" sz="1200" dirty="0">
              <a:solidFill>
                <a:schemeClr val="accent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ja-JP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22.3</a:t>
            </a:r>
            <a:r>
              <a:rPr lang="en-US" altLang="ja-JP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4E0F303A-DD7F-1C3E-9A60-F35901148B21}"/>
              </a:ext>
            </a:extLst>
          </p:cNvPr>
          <p:cNvSpPr txBox="1"/>
          <p:nvPr/>
        </p:nvSpPr>
        <p:spPr>
          <a:xfrm>
            <a:off x="9734448" y="6006016"/>
            <a:ext cx="872355" cy="58477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ja-JP" sz="1200" dirty="0">
                <a:solidFill>
                  <a:schemeClr val="accent1"/>
                </a:solidFill>
              </a:rPr>
              <a:t>30</a:t>
            </a:r>
            <a:r>
              <a:rPr lang="ja-JP" altLang="en-US" sz="1200">
                <a:solidFill>
                  <a:schemeClr val="accent1"/>
                </a:solidFill>
              </a:rPr>
              <a:t>代</a:t>
            </a:r>
            <a:endParaRPr lang="en-US" altLang="ja-JP" sz="1200" dirty="0">
              <a:solidFill>
                <a:schemeClr val="accent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ja-JP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22.8</a:t>
            </a:r>
            <a:r>
              <a:rPr lang="en-US" altLang="ja-JP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4625BD9-0D44-9FDB-5B80-1E4C8200C1EA}"/>
              </a:ext>
            </a:extLst>
          </p:cNvPr>
          <p:cNvSpPr txBox="1"/>
          <p:nvPr/>
        </p:nvSpPr>
        <p:spPr>
          <a:xfrm>
            <a:off x="6446784" y="4562161"/>
            <a:ext cx="872355" cy="58477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40</a:t>
            </a:r>
            <a:r>
              <a:rPr lang="ja-JP" altLang="en-US" sz="1200">
                <a:solidFill>
                  <a:schemeClr val="tx1"/>
                </a:solidFill>
              </a:rPr>
              <a:t>代</a:t>
            </a:r>
            <a:endParaRPr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24.3</a:t>
            </a:r>
            <a:r>
              <a:rPr lang="en-US" altLang="ja-JP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0AE872CF-2D64-CFDC-602D-AF008ED04069}"/>
              </a:ext>
            </a:extLst>
          </p:cNvPr>
          <p:cNvSpPr txBox="1"/>
          <p:nvPr/>
        </p:nvSpPr>
        <p:spPr>
          <a:xfrm>
            <a:off x="7393234" y="3122934"/>
            <a:ext cx="872355" cy="58477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50</a:t>
            </a:r>
            <a:r>
              <a:rPr lang="ja-JP" altLang="en-US" sz="1200">
                <a:solidFill>
                  <a:schemeClr val="tx1"/>
                </a:solidFill>
              </a:rPr>
              <a:t>代</a:t>
            </a:r>
            <a:endParaRPr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13.7</a:t>
            </a:r>
            <a:r>
              <a:rPr lang="en-US" altLang="ja-JP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42" name="フリーフォーム 41">
            <a:extLst>
              <a:ext uri="{FF2B5EF4-FFF2-40B4-BE49-F238E27FC236}">
                <a16:creationId xmlns:a16="http://schemas.microsoft.com/office/drawing/2014/main" id="{DB353DB4-1074-6EB2-56ED-DEAC0BB84463}"/>
              </a:ext>
            </a:extLst>
          </p:cNvPr>
          <p:cNvSpPr/>
          <p:nvPr/>
        </p:nvSpPr>
        <p:spPr>
          <a:xfrm>
            <a:off x="8949018" y="6057900"/>
            <a:ext cx="726141" cy="255494"/>
          </a:xfrm>
          <a:custGeom>
            <a:avLst/>
            <a:gdLst>
              <a:gd name="connsiteX0" fmla="*/ 0 w 726141"/>
              <a:gd name="connsiteY0" fmla="*/ 0 h 255494"/>
              <a:gd name="connsiteX1" fmla="*/ 255494 w 726141"/>
              <a:gd name="connsiteY1" fmla="*/ 255494 h 255494"/>
              <a:gd name="connsiteX2" fmla="*/ 726141 w 726141"/>
              <a:gd name="connsiteY2" fmla="*/ 255494 h 25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141" h="255494">
                <a:moveTo>
                  <a:pt x="0" y="0"/>
                </a:moveTo>
                <a:lnTo>
                  <a:pt x="255494" y="255494"/>
                </a:lnTo>
                <a:lnTo>
                  <a:pt x="726141" y="255494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398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38841-C0E3-97E9-C4CC-9D0238BD6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FF40526-945C-F811-4799-3719BBF41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F83420-246A-76F0-B836-2E76BC65C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85C3E-5C69-C74B-88D2-3CD82C73D522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798A402-826B-7260-4265-5DFD824BDF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197" y="366204"/>
            <a:ext cx="1705595" cy="249299"/>
          </a:xfrm>
        </p:spPr>
        <p:txBody>
          <a:bodyPr/>
          <a:lstStyle/>
          <a:p>
            <a:r>
              <a:rPr kumimoji="1" lang="ja-JP" altLang="en-US"/>
              <a:t>解決策・打ち手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B48CBEA1-C0FC-D1B9-38B9-3D0C68BECF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137" y="363705"/>
            <a:ext cx="227627" cy="221599"/>
          </a:xfrm>
        </p:spPr>
        <p:txBody>
          <a:bodyPr/>
          <a:lstStyle/>
          <a:p>
            <a:r>
              <a:rPr kumimoji="1" lang="en-US" altLang="ja-JP" dirty="0"/>
              <a:t>03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E6EB97D-A64E-C53F-1D39-FD610CB2EA31}"/>
              </a:ext>
            </a:extLst>
          </p:cNvPr>
          <p:cNvSpPr txBox="1"/>
          <p:nvPr/>
        </p:nvSpPr>
        <p:spPr>
          <a:xfrm>
            <a:off x="932203" y="1038772"/>
            <a:ext cx="10312438" cy="93429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en-US" altLang="ja-JP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Instagram,TikTok</a:t>
            </a:r>
            <a:r>
              <a:rPr lang="ja-JP" altLang="en-US">
                <a:solidFill>
                  <a:schemeClr val="tx1"/>
                </a:solidFill>
              </a:rPr>
              <a:t>とも購買行動に直結する媒体。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>
              <a:lnSpc>
                <a:spcPct val="117000"/>
              </a:lnSpc>
            </a:pPr>
            <a:r>
              <a:rPr lang="ja-JP" altLang="en-US">
                <a:solidFill>
                  <a:schemeClr val="tx1"/>
                </a:solidFill>
              </a:rPr>
              <a:t>数年後には</a:t>
            </a:r>
            <a:r>
              <a:rPr lang="ja-JP" altLang="en-US">
                <a:solidFill>
                  <a:schemeClr val="accent1"/>
                </a:solidFill>
              </a:rPr>
              <a:t>顧客獲得数の</a:t>
            </a:r>
            <a:r>
              <a:rPr lang="en-US" altLang="ja-JP" dirty="0">
                <a:solidFill>
                  <a:schemeClr val="accent1"/>
                </a:solidFill>
              </a:rPr>
              <a:t>3</a:t>
            </a:r>
            <a:r>
              <a:rPr lang="ja-JP" altLang="en-US">
                <a:solidFill>
                  <a:schemeClr val="accent1"/>
                </a:solidFill>
              </a:rPr>
              <a:t>割を占める一大チャネル</a:t>
            </a:r>
            <a:r>
              <a:rPr lang="ja-JP" altLang="en-US">
                <a:solidFill>
                  <a:schemeClr val="tx1"/>
                </a:solidFill>
              </a:rPr>
              <a:t>になる可能性あり。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2987B6D-3A8F-8D31-BC5B-BC5FEA1DCD47}"/>
              </a:ext>
            </a:extLst>
          </p:cNvPr>
          <p:cNvSpPr txBox="1"/>
          <p:nvPr/>
        </p:nvSpPr>
        <p:spPr>
          <a:xfrm>
            <a:off x="4961687" y="6580110"/>
            <a:ext cx="6694140" cy="134460"/>
          </a:xfrm>
          <a:prstGeom prst="rect">
            <a:avLst/>
          </a:prstGeom>
          <a:noFill/>
          <a:effectLst/>
        </p:spPr>
        <p:txBody>
          <a:bodyPr wrap="none" lIns="0" tIns="0" rIns="0" bIns="0" rtlCol="0" anchor="b" anchorCtr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r">
              <a:lnSpc>
                <a:spcPct val="117000"/>
              </a:lnSpc>
            </a:pPr>
            <a:r>
              <a:rPr lang="en-US" altLang="ja-JP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※</a:t>
            </a:r>
            <a:r>
              <a:rPr lang="ja-JP" altLang="en-US" sz="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ここにデータの引用元などを記載します。ここにデータの引用元などを記載します。ここにデータの引用元などを記載します。</a:t>
            </a:r>
            <a:endParaRPr lang="en-US" altLang="ja-JP" sz="800" b="0" dirty="0">
              <a:solidFill>
                <a:schemeClr val="tx1"/>
              </a:solidFill>
            </a:endParaRPr>
          </a:p>
        </p:txBody>
      </p:sp>
      <p:sp>
        <p:nvSpPr>
          <p:cNvPr id="30" name="三角形 29">
            <a:extLst>
              <a:ext uri="{FF2B5EF4-FFF2-40B4-BE49-F238E27FC236}">
                <a16:creationId xmlns:a16="http://schemas.microsoft.com/office/drawing/2014/main" id="{26E347C0-F814-24AF-8CFA-DDFE8CD8B116}"/>
              </a:ext>
            </a:extLst>
          </p:cNvPr>
          <p:cNvSpPr/>
          <p:nvPr/>
        </p:nvSpPr>
        <p:spPr>
          <a:xfrm rot="16200000">
            <a:off x="8778725" y="3403046"/>
            <a:ext cx="591040" cy="38280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31" name="グラフ 30">
            <a:extLst>
              <a:ext uri="{FF2B5EF4-FFF2-40B4-BE49-F238E27FC236}">
                <a16:creationId xmlns:a16="http://schemas.microsoft.com/office/drawing/2014/main" id="{84692F46-B777-A30F-A442-25DD3148FC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4465007"/>
              </p:ext>
            </p:extLst>
          </p:nvPr>
        </p:nvGraphicFramePr>
        <p:xfrm>
          <a:off x="834944" y="2884295"/>
          <a:ext cx="8128000" cy="35905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6329D795-F1A8-8762-A5EF-4C19A321768D}"/>
              </a:ext>
            </a:extLst>
          </p:cNvPr>
          <p:cNvSpPr/>
          <p:nvPr/>
        </p:nvSpPr>
        <p:spPr>
          <a:xfrm>
            <a:off x="4541327" y="2337093"/>
            <a:ext cx="3094182" cy="41118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spc="100">
                <a:solidFill>
                  <a:schemeClr val="accent1"/>
                </a:solidFill>
              </a:rPr>
              <a:t>購買行動に影響した</a:t>
            </a:r>
            <a:r>
              <a:rPr kumimoji="1" lang="en-US" altLang="ja-JP" sz="1400" b="1" spc="100" dirty="0">
                <a:solidFill>
                  <a:schemeClr val="accent1"/>
                </a:solidFill>
              </a:rPr>
              <a:t>SNS</a:t>
            </a:r>
            <a:endParaRPr kumimoji="1" lang="ja-JP" altLang="en-US" sz="1400" b="1" spc="100">
              <a:solidFill>
                <a:schemeClr val="accent1"/>
              </a:solidFill>
            </a:endParaRPr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5B3CF0C3-1931-DDF7-4BBF-1FE2F4810A10}"/>
              </a:ext>
            </a:extLst>
          </p:cNvPr>
          <p:cNvSpPr/>
          <p:nvPr/>
        </p:nvSpPr>
        <p:spPr>
          <a:xfrm>
            <a:off x="9102703" y="2981187"/>
            <a:ext cx="2615683" cy="1198963"/>
          </a:xfrm>
          <a:prstGeom prst="roundRect">
            <a:avLst>
              <a:gd name="adj" fmla="val 25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ja-JP" altLang="en-US" b="1">
                <a:latin typeface="Yu Gothic" panose="020B0400000000000000" pitchFamily="34" charset="-128"/>
                <a:ea typeface="Yu Gothic" panose="020B0400000000000000" pitchFamily="34" charset="-128"/>
              </a:rPr>
              <a:t>他の</a:t>
            </a:r>
            <a:r>
              <a:rPr kumimoji="1" lang="en" altLang="ja-JP" b="1" dirty="0">
                <a:latin typeface="Yu Gothic" panose="020B0400000000000000" pitchFamily="34" charset="-128"/>
                <a:ea typeface="Yu Gothic" panose="020B0400000000000000" pitchFamily="34" charset="-128"/>
              </a:rPr>
              <a:t>SNS</a:t>
            </a:r>
            <a:r>
              <a:rPr kumimoji="1" lang="ja-JP" altLang="en-US" b="1">
                <a:latin typeface="Yu Gothic" panose="020B0400000000000000" pitchFamily="34" charset="-128"/>
                <a:ea typeface="Yu Gothic" panose="020B0400000000000000" pitchFamily="34" charset="-128"/>
              </a:rPr>
              <a:t>に比べて</a:t>
            </a:r>
          </a:p>
          <a:p>
            <a:pPr algn="ctr">
              <a:lnSpc>
                <a:spcPct val="110000"/>
              </a:lnSpc>
            </a:pPr>
            <a:r>
              <a:rPr kumimoji="1" lang="ja-JP" altLang="en-US" b="1">
                <a:latin typeface="Yu Gothic" panose="020B0400000000000000" pitchFamily="34" charset="-128"/>
                <a:ea typeface="Yu Gothic" panose="020B0400000000000000" pitchFamily="34" charset="-128"/>
              </a:rPr>
              <a:t>強い影響力を持つ</a:t>
            </a:r>
          </a:p>
        </p:txBody>
      </p:sp>
    </p:spTree>
    <p:extLst>
      <p:ext uri="{BB962C8B-B14F-4D97-AF65-F5344CB8AC3E}">
        <p14:creationId xmlns:p14="http://schemas.microsoft.com/office/powerpoint/2010/main" val="3477385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98621-8AAA-BA63-BB4C-D4C56D1B5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4800043-4B0D-CF84-5713-2BDD33A9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10FAD4-77C9-C1E5-A4BA-E5387365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85C3E-5C69-C74B-88D2-3CD82C73D522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4FAB9A-EBF8-66D2-BBB9-DD7206CB15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197" y="366204"/>
            <a:ext cx="1705595" cy="249299"/>
          </a:xfrm>
        </p:spPr>
        <p:txBody>
          <a:bodyPr/>
          <a:lstStyle/>
          <a:p>
            <a:r>
              <a:rPr kumimoji="1" lang="ja-JP" altLang="en-US"/>
              <a:t>解決策・打ち手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EF07581-69E1-9E6A-520F-979FA2676E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137" y="363705"/>
            <a:ext cx="227627" cy="221599"/>
          </a:xfrm>
        </p:spPr>
        <p:txBody>
          <a:bodyPr/>
          <a:lstStyle/>
          <a:p>
            <a:r>
              <a:rPr kumimoji="1" lang="en-US" altLang="ja-JP" dirty="0"/>
              <a:t>03</a:t>
            </a:r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D93AC55-94BC-2FD0-3C46-5F99476D6AD4}"/>
              </a:ext>
            </a:extLst>
          </p:cNvPr>
          <p:cNvSpPr txBox="1"/>
          <p:nvPr/>
        </p:nvSpPr>
        <p:spPr>
          <a:xfrm>
            <a:off x="868286" y="1038772"/>
            <a:ext cx="10440294" cy="93076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年度末には顧客獲得数を</a:t>
            </a:r>
            <a:r>
              <a:rPr lang="en-US" altLang="ja-JP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</a:t>
            </a:r>
            <a:r>
              <a:rPr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名</a:t>
            </a:r>
            <a:r>
              <a:rPr lang="en-US" altLang="ja-JP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月増加させ、</a:t>
            </a:r>
            <a:r>
              <a:rPr lang="en-US" altLang="ja-JP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CPA</a:t>
            </a:r>
            <a:r>
              <a:rPr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を</a:t>
            </a:r>
            <a:r>
              <a:rPr lang="en-US" altLang="ja-JP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1.2</a:t>
            </a:r>
            <a:r>
              <a:rPr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万円に抑制する。</a:t>
            </a:r>
          </a:p>
          <a:p>
            <a:pPr algn="ctr">
              <a:lnSpc>
                <a:spcPct val="117000"/>
              </a:lnSpc>
            </a:pPr>
            <a:r>
              <a:rPr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これにより、</a:t>
            </a:r>
            <a:r>
              <a:rPr lang="ja-JP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営業利益</a:t>
            </a:r>
            <a:r>
              <a:rPr lang="en-US" altLang="ja-JP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ja-JP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月を</a:t>
            </a:r>
            <a:r>
              <a:rPr lang="en-US" altLang="ja-JP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1,000 → 1,500</a:t>
            </a:r>
            <a:r>
              <a:rPr lang="ja-JP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万円</a:t>
            </a:r>
            <a:r>
              <a:rPr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に改善可能。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3BDE9A-AD3B-7E6C-D879-2524643057E6}"/>
              </a:ext>
            </a:extLst>
          </p:cNvPr>
          <p:cNvSpPr/>
          <p:nvPr/>
        </p:nvSpPr>
        <p:spPr>
          <a:xfrm>
            <a:off x="3856850" y="3274354"/>
            <a:ext cx="1075208" cy="28915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/>
              <a:t>280</a:t>
            </a:r>
            <a:r>
              <a:rPr kumimoji="1" lang="ja-JP" altLang="en-US" sz="1400" b="1"/>
              <a:t>名</a:t>
            </a:r>
            <a:endParaRPr kumimoji="1" lang="ja-JP" altLang="en-US" sz="1200" b="1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A97299B2-E124-F8D2-B140-EA3E15F4183D}"/>
              </a:ext>
            </a:extLst>
          </p:cNvPr>
          <p:cNvCxnSpPr>
            <a:cxnSpLocks/>
          </p:cNvCxnSpPr>
          <p:nvPr/>
        </p:nvCxnSpPr>
        <p:spPr>
          <a:xfrm>
            <a:off x="1527230" y="6165896"/>
            <a:ext cx="3666161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62DE9B6-7824-AD4D-F856-58E3FEA92A2E}"/>
              </a:ext>
            </a:extLst>
          </p:cNvPr>
          <p:cNvSpPr/>
          <p:nvPr/>
        </p:nvSpPr>
        <p:spPr>
          <a:xfrm>
            <a:off x="1806078" y="4408718"/>
            <a:ext cx="1075208" cy="17571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/>
              <a:t>200</a:t>
            </a:r>
            <a:r>
              <a:rPr kumimoji="1" lang="ja-JP" altLang="en-US" sz="1600" b="1"/>
              <a:t>名</a:t>
            </a:r>
            <a:endParaRPr kumimoji="1" lang="ja-JP" altLang="en-US" sz="1200" b="1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DFCC09A-6D47-13E5-A7A6-CDC89233224A}"/>
              </a:ext>
            </a:extLst>
          </p:cNvPr>
          <p:cNvSpPr txBox="1"/>
          <p:nvPr/>
        </p:nvSpPr>
        <p:spPr>
          <a:xfrm>
            <a:off x="1310276" y="3113637"/>
            <a:ext cx="2145138" cy="74924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ja-JP" altLang="en-US"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獲得数</a:t>
            </a:r>
            <a:r>
              <a:rPr lang="en-US" altLang="ja-JP" sz="4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  <a:r>
              <a:rPr lang="en-US" altLang="ja-JP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ja-JP" altLang="en-US"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増</a:t>
            </a:r>
            <a:endParaRPr lang="en-US" altLang="ja-JP" sz="2000" dirty="0">
              <a:solidFill>
                <a:schemeClr val="accent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DBA2579-9178-9136-0432-5EB8A104B8E5}"/>
              </a:ext>
            </a:extLst>
          </p:cNvPr>
          <p:cNvSpPr txBox="1"/>
          <p:nvPr/>
        </p:nvSpPr>
        <p:spPr>
          <a:xfrm>
            <a:off x="1890515" y="6183536"/>
            <a:ext cx="910827" cy="36324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en-US" altLang="ja-JP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F084F61-8F92-DD97-4FB8-5377AEF4ABD8}"/>
              </a:ext>
            </a:extLst>
          </p:cNvPr>
          <p:cNvSpPr txBox="1"/>
          <p:nvPr/>
        </p:nvSpPr>
        <p:spPr>
          <a:xfrm>
            <a:off x="4025930" y="6183536"/>
            <a:ext cx="728084" cy="36324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en-US" altLang="ja-JP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endParaRPr lang="en-US" altLang="ja-JP" sz="1600" dirty="0">
              <a:solidFill>
                <a:schemeClr val="accent1"/>
              </a:solidFill>
            </a:endParaRPr>
          </a:p>
        </p:txBody>
      </p:sp>
      <p:sp>
        <p:nvSpPr>
          <p:cNvPr id="15" name="フローチャート: 手操作入力 34">
            <a:extLst>
              <a:ext uri="{FF2B5EF4-FFF2-40B4-BE49-F238E27FC236}">
                <a16:creationId xmlns:a16="http://schemas.microsoft.com/office/drawing/2014/main" id="{45C1702B-AF31-F621-4E16-3618A7CD81C7}"/>
              </a:ext>
            </a:extLst>
          </p:cNvPr>
          <p:cNvSpPr/>
          <p:nvPr/>
        </p:nvSpPr>
        <p:spPr>
          <a:xfrm>
            <a:off x="2876700" y="3271185"/>
            <a:ext cx="980149" cy="2891544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47"/>
              <a:gd name="connsiteY0" fmla="*/ 2885 h 10000"/>
              <a:gd name="connsiteX1" fmla="*/ 10047 w 10047"/>
              <a:gd name="connsiteY1" fmla="*/ 0 h 10000"/>
              <a:gd name="connsiteX2" fmla="*/ 10047 w 10047"/>
              <a:gd name="connsiteY2" fmla="*/ 10000 h 10000"/>
              <a:gd name="connsiteX3" fmla="*/ 47 w 10047"/>
              <a:gd name="connsiteY3" fmla="*/ 10000 h 10000"/>
              <a:gd name="connsiteX4" fmla="*/ 0 w 10047"/>
              <a:gd name="connsiteY4" fmla="*/ 2885 h 10000"/>
              <a:gd name="connsiteX0" fmla="*/ 0 w 10047"/>
              <a:gd name="connsiteY0" fmla="*/ 3930 h 10000"/>
              <a:gd name="connsiteX1" fmla="*/ 10047 w 10047"/>
              <a:gd name="connsiteY1" fmla="*/ 0 h 10000"/>
              <a:gd name="connsiteX2" fmla="*/ 10047 w 10047"/>
              <a:gd name="connsiteY2" fmla="*/ 10000 h 10000"/>
              <a:gd name="connsiteX3" fmla="*/ 47 w 10047"/>
              <a:gd name="connsiteY3" fmla="*/ 10000 h 10000"/>
              <a:gd name="connsiteX4" fmla="*/ 0 w 10047"/>
              <a:gd name="connsiteY4" fmla="*/ 393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47" h="10000">
                <a:moveTo>
                  <a:pt x="0" y="3930"/>
                </a:moveTo>
                <a:lnTo>
                  <a:pt x="10047" y="0"/>
                </a:lnTo>
                <a:lnTo>
                  <a:pt x="10047" y="10000"/>
                </a:lnTo>
                <a:lnTo>
                  <a:pt x="47" y="10000"/>
                </a:lnTo>
                <a:cubicBezTo>
                  <a:pt x="31" y="7628"/>
                  <a:pt x="16" y="6302"/>
                  <a:pt x="0" y="393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C9C20E62-8441-4683-C87E-345FA0FC3B39}"/>
              </a:ext>
            </a:extLst>
          </p:cNvPr>
          <p:cNvSpPr/>
          <p:nvPr/>
        </p:nvSpPr>
        <p:spPr>
          <a:xfrm>
            <a:off x="1488330" y="2400563"/>
            <a:ext cx="3743960" cy="41118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spc="100">
                <a:solidFill>
                  <a:schemeClr val="accent1"/>
                </a:solidFill>
              </a:rPr>
              <a:t>施策前後の新規顧客獲得数比較</a:t>
            </a:r>
            <a:endParaRPr kumimoji="1" lang="ja-JP" altLang="en-US" sz="1400" b="1" spc="100">
              <a:solidFill>
                <a:schemeClr val="accent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BFD0F37-38A6-82E0-AE97-EB0CC58C8C05}"/>
              </a:ext>
            </a:extLst>
          </p:cNvPr>
          <p:cNvSpPr/>
          <p:nvPr/>
        </p:nvSpPr>
        <p:spPr>
          <a:xfrm>
            <a:off x="7336354" y="3271186"/>
            <a:ext cx="1075208" cy="29247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/>
              <a:t>1.5</a:t>
            </a:r>
            <a:r>
              <a:rPr kumimoji="1" lang="ja-JP" altLang="en-US" sz="1200" b="1"/>
              <a:t>万円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D82DEA3-6E82-D9F6-EFF4-17C697DE156C}"/>
              </a:ext>
            </a:extLst>
          </p:cNvPr>
          <p:cNvCxnSpPr>
            <a:cxnSpLocks/>
          </p:cNvCxnSpPr>
          <p:nvPr/>
        </p:nvCxnSpPr>
        <p:spPr>
          <a:xfrm>
            <a:off x="7055260" y="6195978"/>
            <a:ext cx="3666161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1BC155A-C7F7-E3B4-AF64-428230DDE42B}"/>
              </a:ext>
            </a:extLst>
          </p:cNvPr>
          <p:cNvSpPr/>
          <p:nvPr/>
        </p:nvSpPr>
        <p:spPr>
          <a:xfrm>
            <a:off x="9391711" y="4084583"/>
            <a:ext cx="1075208" cy="21113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/>
              <a:t>1.2</a:t>
            </a:r>
            <a:r>
              <a:rPr kumimoji="1" lang="ja-JP" altLang="en-US" sz="1200" b="1"/>
              <a:t>万円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882D3CD-662D-FD33-4029-134A842BEE2F}"/>
              </a:ext>
            </a:extLst>
          </p:cNvPr>
          <p:cNvSpPr txBox="1"/>
          <p:nvPr/>
        </p:nvSpPr>
        <p:spPr>
          <a:xfrm>
            <a:off x="7500298" y="6213618"/>
            <a:ext cx="747320" cy="29553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en-US" altLang="ja-JP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6167553-9486-56C6-3BFF-C459C01A3607}"/>
              </a:ext>
            </a:extLst>
          </p:cNvPr>
          <p:cNvSpPr txBox="1"/>
          <p:nvPr/>
        </p:nvSpPr>
        <p:spPr>
          <a:xfrm>
            <a:off x="9614874" y="6213618"/>
            <a:ext cx="606256" cy="29553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en-US" altLang="ja-JP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endParaRPr lang="en-US" altLang="ja-JP" sz="1200" dirty="0">
              <a:solidFill>
                <a:schemeClr val="accent1"/>
              </a:solidFill>
            </a:endParaRPr>
          </a:p>
        </p:txBody>
      </p:sp>
      <p:sp>
        <p:nvSpPr>
          <p:cNvPr id="22" name="フローチャート: 手操作入力 34">
            <a:extLst>
              <a:ext uri="{FF2B5EF4-FFF2-40B4-BE49-F238E27FC236}">
                <a16:creationId xmlns:a16="http://schemas.microsoft.com/office/drawing/2014/main" id="{288FA125-712D-4C07-2A95-7032FB52AFC9}"/>
              </a:ext>
            </a:extLst>
          </p:cNvPr>
          <p:cNvSpPr/>
          <p:nvPr/>
        </p:nvSpPr>
        <p:spPr>
          <a:xfrm flipH="1">
            <a:off x="8411561" y="3253548"/>
            <a:ext cx="980149" cy="2929963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47"/>
              <a:gd name="connsiteY0" fmla="*/ 2885 h 10000"/>
              <a:gd name="connsiteX1" fmla="*/ 10047 w 10047"/>
              <a:gd name="connsiteY1" fmla="*/ 0 h 10000"/>
              <a:gd name="connsiteX2" fmla="*/ 10047 w 10047"/>
              <a:gd name="connsiteY2" fmla="*/ 10000 h 10000"/>
              <a:gd name="connsiteX3" fmla="*/ 47 w 10047"/>
              <a:gd name="connsiteY3" fmla="*/ 10000 h 10000"/>
              <a:gd name="connsiteX4" fmla="*/ 0 w 10047"/>
              <a:gd name="connsiteY4" fmla="*/ 2885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47" h="10000">
                <a:moveTo>
                  <a:pt x="0" y="2885"/>
                </a:moveTo>
                <a:lnTo>
                  <a:pt x="10047" y="0"/>
                </a:lnTo>
                <a:lnTo>
                  <a:pt x="10047" y="10000"/>
                </a:lnTo>
                <a:lnTo>
                  <a:pt x="47" y="10000"/>
                </a:lnTo>
                <a:cubicBezTo>
                  <a:pt x="31" y="7628"/>
                  <a:pt x="16" y="5257"/>
                  <a:pt x="0" y="288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11C85A1E-D64D-53A9-6435-D02F06CCA0BD}"/>
              </a:ext>
            </a:extLst>
          </p:cNvPr>
          <p:cNvSpPr/>
          <p:nvPr/>
        </p:nvSpPr>
        <p:spPr>
          <a:xfrm>
            <a:off x="7029655" y="2400563"/>
            <a:ext cx="3743960" cy="41118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spc="100">
                <a:solidFill>
                  <a:schemeClr val="accent1"/>
                </a:solidFill>
              </a:rPr>
              <a:t>施策前後の</a:t>
            </a:r>
            <a:r>
              <a:rPr lang="en-US" altLang="ja-JP" sz="1400" b="1" spc="100" dirty="0">
                <a:solidFill>
                  <a:schemeClr val="accent1"/>
                </a:solidFill>
              </a:rPr>
              <a:t>CPA</a:t>
            </a:r>
            <a:r>
              <a:rPr lang="ja-JP" altLang="en-US" sz="1400" b="1" spc="100">
                <a:solidFill>
                  <a:schemeClr val="accent1"/>
                </a:solidFill>
              </a:rPr>
              <a:t>比較</a:t>
            </a:r>
            <a:endParaRPr kumimoji="1" lang="ja-JP" altLang="en-US" sz="1400" b="1" spc="100">
              <a:solidFill>
                <a:schemeClr val="accent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E899523-1274-2621-8BAE-87D8D806870F}"/>
              </a:ext>
            </a:extLst>
          </p:cNvPr>
          <p:cNvSpPr txBox="1"/>
          <p:nvPr/>
        </p:nvSpPr>
        <p:spPr>
          <a:xfrm>
            <a:off x="8940373" y="3113637"/>
            <a:ext cx="2003689" cy="74924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en-US" altLang="ja-JP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CPA</a:t>
            </a:r>
            <a:r>
              <a:rPr lang="en-US" altLang="ja-JP" sz="4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altLang="ja-JP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ja-JP" altLang="en-US"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減</a:t>
            </a:r>
            <a:endParaRPr lang="en-US" altLang="ja-JP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190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492A8-5A15-39C0-EDB0-71E42846E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A588BA8-C7C8-F9B8-02B2-4CA115D1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459723-82B9-F5AF-4470-2F656516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85C3E-5C69-C74B-88D2-3CD82C73D522}" type="slidenum">
              <a:rPr lang="ja-JP" altLang="en-US" smtClean="0"/>
              <a:pPr/>
              <a:t>15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81B684A-E20C-DB9C-B533-7B04CA5D61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197" y="366204"/>
            <a:ext cx="3167534" cy="249299"/>
          </a:xfrm>
        </p:spPr>
        <p:txBody>
          <a:bodyPr/>
          <a:lstStyle/>
          <a:p>
            <a:r>
              <a:rPr kumimoji="1" lang="ja-JP" altLang="en-US"/>
              <a:t>期待効果のシミュレーション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6E49103-5827-6329-7B40-63E0DE3A63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137" y="363705"/>
            <a:ext cx="227627" cy="221599"/>
          </a:xfrm>
        </p:spPr>
        <p:txBody>
          <a:bodyPr/>
          <a:lstStyle/>
          <a:p>
            <a:r>
              <a:rPr kumimoji="1" lang="en-US" altLang="ja-JP" dirty="0"/>
              <a:t>04</a:t>
            </a:r>
            <a:endParaRPr kumimoji="1" lang="ja-JP" altLang="en-US"/>
          </a:p>
        </p:txBody>
      </p:sp>
      <p:graphicFrame>
        <p:nvGraphicFramePr>
          <p:cNvPr id="8" name="グラフ 7">
            <a:extLst>
              <a:ext uri="{FF2B5EF4-FFF2-40B4-BE49-F238E27FC236}">
                <a16:creationId xmlns:a16="http://schemas.microsoft.com/office/drawing/2014/main" id="{47C56AC7-CA58-6711-7B71-69912A903F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7297404"/>
              </p:ext>
            </p:extLst>
          </p:nvPr>
        </p:nvGraphicFramePr>
        <p:xfrm>
          <a:off x="686816" y="988754"/>
          <a:ext cx="10818368" cy="5420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62AF921-8C0E-0F2C-EDDC-A5A5D822DCC7}"/>
              </a:ext>
            </a:extLst>
          </p:cNvPr>
          <p:cNvSpPr txBox="1"/>
          <p:nvPr/>
        </p:nvSpPr>
        <p:spPr>
          <a:xfrm>
            <a:off x="5266366" y="6288035"/>
            <a:ext cx="6814686" cy="44044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r">
              <a:lnSpc>
                <a:spcPct val="117000"/>
              </a:lnSpc>
            </a:pPr>
            <a:r>
              <a:rPr lang="en-US" altLang="ja-JP" sz="10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※</a:t>
            </a:r>
            <a:r>
              <a:rPr lang="ja-JP" altLang="en-US" sz="1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シミュレーションの根拠やロジックを補足します。シミュレーションの根拠やロジックを補足します。</a:t>
            </a:r>
            <a:endParaRPr lang="en-US" altLang="ja-JP" sz="1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ct val="117000"/>
              </a:lnSpc>
            </a:pPr>
            <a:r>
              <a:rPr lang="en-US" altLang="ja-JP" sz="10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※</a:t>
            </a:r>
            <a:r>
              <a:rPr lang="ja-JP" altLang="en-US" sz="1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シミュレーションの根拠やロジックを補足します。シミュレーションの根拠やロジックを補足します。</a:t>
            </a:r>
            <a:endParaRPr lang="en-US" altLang="ja-JP" sz="1000" b="0" dirty="0">
              <a:solidFill>
                <a:schemeClr val="tx1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A7B5B1F-DD8A-25D5-48B2-45D523230AAF}"/>
              </a:ext>
            </a:extLst>
          </p:cNvPr>
          <p:cNvSpPr txBox="1"/>
          <p:nvPr/>
        </p:nvSpPr>
        <p:spPr>
          <a:xfrm>
            <a:off x="5488535" y="938812"/>
            <a:ext cx="2595582" cy="55656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>
              <a:lnSpc>
                <a:spcPct val="117000"/>
              </a:lnSpc>
            </a:pPr>
            <a:r>
              <a:rPr lang="en-US" altLang="ja-JP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SNS</a:t>
            </a:r>
            <a:r>
              <a:rPr lang="ja-JP" alt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運用開始</a:t>
            </a:r>
            <a:endParaRPr lang="en-US" altLang="ja-JP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7000"/>
              </a:lnSpc>
            </a:pPr>
            <a:r>
              <a:rPr lang="en-US" altLang="ja-JP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※2024.6</a:t>
            </a:r>
            <a:r>
              <a:rPr lang="ja-JP" alt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以降はシミュレーション値</a:t>
            </a:r>
            <a:endParaRPr lang="en-US" altLang="ja-JP" sz="1050" dirty="0">
              <a:solidFill>
                <a:schemeClr val="tx1"/>
              </a:solidFill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FCDC085D-8163-45E8-D08D-45087B4BB50A}"/>
              </a:ext>
            </a:extLst>
          </p:cNvPr>
          <p:cNvCxnSpPr/>
          <p:nvPr/>
        </p:nvCxnSpPr>
        <p:spPr>
          <a:xfrm>
            <a:off x="5416826" y="949963"/>
            <a:ext cx="0" cy="4904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046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7078-E130-7DDD-33C5-697F4B09E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DB5B7E4-8D65-C629-5A6A-4D8630B1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A9F30E-8C61-3B77-1D64-54AF0200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85C3E-5C69-C74B-88D2-3CD82C73D522}" type="slidenum">
              <a:rPr lang="ja-JP" altLang="en-US" smtClean="0"/>
              <a:pPr/>
              <a:t>16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5944C64-24CC-D570-8038-509DE688D4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197" y="366204"/>
            <a:ext cx="974626" cy="249299"/>
          </a:xfrm>
        </p:spPr>
        <p:txBody>
          <a:bodyPr/>
          <a:lstStyle/>
          <a:p>
            <a:r>
              <a:rPr kumimoji="1" lang="ja-JP" altLang="en-US"/>
              <a:t>必要費用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EEC79063-8FCA-E335-DC10-B3C39FF804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137" y="363705"/>
            <a:ext cx="227627" cy="221599"/>
          </a:xfrm>
        </p:spPr>
        <p:txBody>
          <a:bodyPr/>
          <a:lstStyle/>
          <a:p>
            <a:r>
              <a:rPr kumimoji="1" lang="en-US" altLang="ja-JP" dirty="0"/>
              <a:t>05</a:t>
            </a:r>
            <a:endParaRPr kumimoji="1" lang="ja-JP" altLang="en-US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E2E24A2D-FBEB-FF96-C6FD-25F5B266D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693041"/>
              </p:ext>
            </p:extLst>
          </p:nvPr>
        </p:nvGraphicFramePr>
        <p:xfrm>
          <a:off x="619759" y="1737361"/>
          <a:ext cx="10952481" cy="4815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173488037"/>
                    </a:ext>
                  </a:extLst>
                </a:gridCol>
                <a:gridCol w="1843844">
                  <a:extLst>
                    <a:ext uri="{9D8B030D-6E8A-4147-A177-3AD203B41FA5}">
                      <a16:colId xmlns:a16="http://schemas.microsoft.com/office/drawing/2014/main" val="3035649305"/>
                    </a:ext>
                  </a:extLst>
                </a:gridCol>
                <a:gridCol w="3418938">
                  <a:extLst>
                    <a:ext uri="{9D8B030D-6E8A-4147-A177-3AD203B41FA5}">
                      <a16:colId xmlns:a16="http://schemas.microsoft.com/office/drawing/2014/main" val="1153671988"/>
                    </a:ext>
                  </a:extLst>
                </a:gridCol>
                <a:gridCol w="1242133">
                  <a:extLst>
                    <a:ext uri="{9D8B030D-6E8A-4147-A177-3AD203B41FA5}">
                      <a16:colId xmlns:a16="http://schemas.microsoft.com/office/drawing/2014/main" val="987286713"/>
                    </a:ext>
                  </a:extLst>
                </a:gridCol>
                <a:gridCol w="3151566">
                  <a:extLst>
                    <a:ext uri="{9D8B030D-6E8A-4147-A177-3AD203B41FA5}">
                      <a16:colId xmlns:a16="http://schemas.microsoft.com/office/drawing/2014/main" val="17013548"/>
                    </a:ext>
                  </a:extLst>
                </a:gridCol>
              </a:tblGrid>
              <a:tr h="44792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solidFill>
                            <a:schemeClr val="bg1"/>
                          </a:solidFill>
                        </a:rPr>
                        <a:t>カテゴリ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solidFill>
                            <a:schemeClr val="bg1"/>
                          </a:solidFill>
                        </a:rPr>
                        <a:t>費用項目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solidFill>
                            <a:schemeClr val="bg1"/>
                          </a:solidFill>
                        </a:rPr>
                        <a:t>概要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solidFill>
                            <a:schemeClr val="bg1"/>
                          </a:solidFill>
                        </a:rPr>
                        <a:t>費用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solidFill>
                            <a:schemeClr val="bg1"/>
                          </a:solidFill>
                        </a:rPr>
                        <a:t>備考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307566"/>
                  </a:ext>
                </a:extLst>
              </a:tr>
              <a:tr h="48525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初期費用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アカウント運用費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" altLang="ja-JP" sz="1200" b="1" dirty="0">
                          <a:solidFill>
                            <a:schemeClr val="tx1"/>
                          </a:solidFill>
                        </a:rPr>
                        <a:t>Instagram</a:t>
                      </a:r>
                      <a:r>
                        <a:rPr kumimoji="1" lang="ja-JP" altLang="en" sz="1200" b="1">
                          <a:solidFill>
                            <a:schemeClr val="tx1"/>
                          </a:solidFill>
                        </a:rPr>
                        <a:t>・</a:t>
                      </a:r>
                      <a:r>
                        <a:rPr kumimoji="1" lang="en" altLang="ja-JP" sz="1200" b="1" dirty="0">
                          <a:solidFill>
                            <a:schemeClr val="tx1"/>
                          </a:solidFill>
                        </a:rPr>
                        <a:t>TikTok</a:t>
                      </a:r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アカウント開設</a:t>
                      </a:r>
                      <a:r>
                        <a:rPr kumimoji="1" lang="en-US" altLang="ja-JP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初期設定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4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¥500,000</a:t>
                      </a:r>
                      <a:endParaRPr kumimoji="1" lang="ja-JP" altLang="en-US" sz="14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100" b="0">
                          <a:solidFill>
                            <a:schemeClr val="tx1"/>
                          </a:solidFill>
                        </a:rPr>
                        <a:t>デザイン設定、プロフィール構築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224919"/>
                  </a:ext>
                </a:extLst>
              </a:tr>
              <a:tr h="4852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初期費用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コンテンツ制作費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初期コンテンツ制作費用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4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¥2,500,000</a:t>
                      </a:r>
                      <a:endParaRPr kumimoji="1" lang="ja-JP" altLang="en-US" sz="14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100" b="0">
                          <a:solidFill>
                            <a:schemeClr val="tx1"/>
                          </a:solidFill>
                        </a:rPr>
                        <a:t>外部制作会社によるクオリティ確保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061150"/>
                  </a:ext>
                </a:extLst>
              </a:tr>
              <a:tr h="48525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継続費用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広告運用費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広告出稿費（</a:t>
                      </a:r>
                      <a:r>
                        <a:rPr kumimoji="1" lang="en" altLang="ja-JP" sz="1200" b="1" dirty="0">
                          <a:solidFill>
                            <a:schemeClr val="tx1"/>
                          </a:solidFill>
                        </a:rPr>
                        <a:t>Instagram/TikTok</a:t>
                      </a:r>
                      <a:r>
                        <a:rPr kumimoji="1" lang="ja-JP" altLang="en" sz="1200" b="1">
                          <a:solidFill>
                            <a:schemeClr val="tx1"/>
                          </a:solidFill>
                        </a:rPr>
                        <a:t>）</a:t>
                      </a:r>
                      <a:endParaRPr kumimoji="1" lang="ja-JP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4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¥2,000,000</a:t>
                      </a:r>
                      <a:endParaRPr kumimoji="1" lang="ja-JP" altLang="en-US" sz="14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100" b="0">
                          <a:solidFill>
                            <a:schemeClr val="tx1"/>
                          </a:solidFill>
                        </a:rPr>
                        <a:t>初期ターゲティング広告、リーチ拡大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167630"/>
                  </a:ext>
                </a:extLst>
              </a:tr>
              <a:tr h="48525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継続費用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運用管理費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定期投稿の制作・運用管理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4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¥300,000</a:t>
                      </a:r>
                      <a:endParaRPr kumimoji="1" lang="ja-JP" altLang="en-US" sz="14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100" b="0">
                          <a:solidFill>
                            <a:schemeClr val="tx1"/>
                          </a:solidFill>
                        </a:rPr>
                        <a:t>クリエイティブ担当者・運用担当者人件費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044043"/>
                  </a:ext>
                </a:extLst>
              </a:tr>
              <a:tr h="48525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継続費用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インフルエンサー費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外部協力者（教育関連のインフルエンサー）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4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¥500,000</a:t>
                      </a:r>
                      <a:endParaRPr kumimoji="1" lang="ja-JP" altLang="en-US" sz="14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100" b="0">
                          <a:solidFill>
                            <a:schemeClr val="tx1"/>
                          </a:solidFill>
                        </a:rPr>
                        <a:t>フォロワー獲得・認知度向上のための協力依頼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067203"/>
                  </a:ext>
                </a:extLst>
              </a:tr>
              <a:tr h="48525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継続費用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その他費用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プロジェクト管理ツール導入費用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4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¥100,000</a:t>
                      </a:r>
                      <a:endParaRPr kumimoji="1" lang="ja-JP" altLang="en-US" sz="14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100" b="0">
                          <a:solidFill>
                            <a:schemeClr val="tx1"/>
                          </a:solidFill>
                        </a:rPr>
                        <a:t>タスク管理やスケジュール管理用</a:t>
                      </a: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897174"/>
                  </a:ext>
                </a:extLst>
              </a:tr>
              <a:tr h="485255">
                <a:tc>
                  <a:txBody>
                    <a:bodyPr/>
                    <a:lstStyle/>
                    <a:p>
                      <a:pPr algn="l"/>
                      <a:endParaRPr kumimoji="1" lang="ja-JP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68240"/>
                  </a:ext>
                </a:extLst>
              </a:tr>
              <a:tr h="485255">
                <a:tc>
                  <a:txBody>
                    <a:bodyPr/>
                    <a:lstStyle/>
                    <a:p>
                      <a:pPr algn="l"/>
                      <a:endParaRPr kumimoji="1" lang="ja-JP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767166"/>
                  </a:ext>
                </a:extLst>
              </a:tr>
              <a:tr h="485255">
                <a:tc>
                  <a:txBody>
                    <a:bodyPr/>
                    <a:lstStyle/>
                    <a:p>
                      <a:pPr algn="l"/>
                      <a:endParaRPr kumimoji="1" lang="ja-JP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145062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9BE946D-EAE2-96E0-ED5F-5426D3BDC34D}"/>
              </a:ext>
            </a:extLst>
          </p:cNvPr>
          <p:cNvSpPr txBox="1"/>
          <p:nvPr/>
        </p:nvSpPr>
        <p:spPr>
          <a:xfrm>
            <a:off x="2508782" y="1038772"/>
            <a:ext cx="7159331" cy="49866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初期費用</a:t>
            </a:r>
            <a:r>
              <a:rPr lang="en-US" altLang="ja-JP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300</a:t>
            </a:r>
            <a:r>
              <a:rPr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万・継続費用</a:t>
            </a:r>
            <a:r>
              <a:rPr lang="en-US" altLang="ja-JP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290</a:t>
            </a:r>
            <a:r>
              <a:rPr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万円</a:t>
            </a:r>
            <a:r>
              <a:rPr lang="en-US" altLang="ja-JP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月の見込み。</a:t>
            </a:r>
            <a:endParaRPr lang="en-US" altLang="ja-JP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242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7D9EC-777B-F1D3-522C-88EA58F9E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DC936B1-4C9E-2B84-3A7F-C4B08E23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3D25EB-A89A-8725-BF78-56FDABDBF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85C3E-5C69-C74B-88D2-3CD82C73D522}" type="slidenum">
              <a:rPr lang="ja-JP" altLang="en-US" smtClean="0"/>
              <a:pPr/>
              <a:t>17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94AC4C0-E04A-CF2F-8638-F767BAAF41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197" y="366204"/>
            <a:ext cx="487313" cy="249299"/>
          </a:xfrm>
        </p:spPr>
        <p:txBody>
          <a:bodyPr/>
          <a:lstStyle/>
          <a:p>
            <a:r>
              <a:rPr kumimoji="1" lang="ja-JP" altLang="en-US"/>
              <a:t>体制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A9C6545F-C161-937E-8B1B-1291ED9AAE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137" y="363705"/>
            <a:ext cx="227627" cy="221599"/>
          </a:xfrm>
        </p:spPr>
        <p:txBody>
          <a:bodyPr/>
          <a:lstStyle/>
          <a:p>
            <a:r>
              <a:rPr kumimoji="1" lang="en-US" altLang="ja-JP" dirty="0"/>
              <a:t>06</a:t>
            </a:r>
            <a:endParaRPr kumimoji="1" lang="ja-JP" altLang="en-US"/>
          </a:p>
        </p:txBody>
      </p:sp>
      <p:sp>
        <p:nvSpPr>
          <p:cNvPr id="8" name="片側の 2 つの角を丸めた四角形 7">
            <a:extLst>
              <a:ext uri="{FF2B5EF4-FFF2-40B4-BE49-F238E27FC236}">
                <a16:creationId xmlns:a16="http://schemas.microsoft.com/office/drawing/2014/main" id="{4BA82CA5-DA82-AEA4-9F98-775510D570C8}"/>
              </a:ext>
            </a:extLst>
          </p:cNvPr>
          <p:cNvSpPr/>
          <p:nvPr/>
        </p:nvSpPr>
        <p:spPr>
          <a:xfrm>
            <a:off x="780755" y="3527290"/>
            <a:ext cx="3220504" cy="2528953"/>
          </a:xfrm>
          <a:prstGeom prst="round2SameRect">
            <a:avLst>
              <a:gd name="adj1" fmla="val 0"/>
              <a:gd name="adj2" fmla="val 3336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tlCol="0" anchor="t" anchorCtr="0"/>
          <a:lstStyle/>
          <a:p>
            <a:pPr marL="268288" indent="-2206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佐藤 健一（リーダー）</a:t>
            </a:r>
            <a:endParaRPr kumimoji="1"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268288" indent="-2206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山田</a:t>
            </a:r>
            <a:r>
              <a:rPr lang="en-US" altLang="ja-JP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花子</a:t>
            </a:r>
            <a:endParaRPr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268288" indent="-2206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田中 宏樹</a:t>
            </a:r>
            <a:endParaRPr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268288" indent="-2206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ja-JP" altLang="en-US" b="1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9" name="片側の 2 つの角を丸めた四角形 8">
            <a:extLst>
              <a:ext uri="{FF2B5EF4-FFF2-40B4-BE49-F238E27FC236}">
                <a16:creationId xmlns:a16="http://schemas.microsoft.com/office/drawing/2014/main" id="{B168B9BC-F211-1B32-53B9-05D618155557}"/>
              </a:ext>
            </a:extLst>
          </p:cNvPr>
          <p:cNvSpPr/>
          <p:nvPr/>
        </p:nvSpPr>
        <p:spPr>
          <a:xfrm>
            <a:off x="4485747" y="3527290"/>
            <a:ext cx="3220504" cy="2528953"/>
          </a:xfrm>
          <a:prstGeom prst="round2SameRect">
            <a:avLst>
              <a:gd name="adj1" fmla="val 0"/>
              <a:gd name="adj2" fmla="val 3336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tlCol="0" anchor="t" anchorCtr="0"/>
          <a:lstStyle/>
          <a:p>
            <a:pPr marL="268288" indent="-2206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佐藤 健一（リーダー）</a:t>
            </a:r>
            <a:endParaRPr kumimoji="1"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268288" indent="-2206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山田</a:t>
            </a:r>
            <a:r>
              <a:rPr lang="en-US" altLang="ja-JP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花子</a:t>
            </a:r>
            <a:endParaRPr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268288" indent="-2206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田中 宏樹</a:t>
            </a:r>
            <a:endParaRPr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268288" indent="-2206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ja-JP" altLang="en-US" b="1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0" name="片側の 2 つの角を丸めた四角形 9">
            <a:extLst>
              <a:ext uri="{FF2B5EF4-FFF2-40B4-BE49-F238E27FC236}">
                <a16:creationId xmlns:a16="http://schemas.microsoft.com/office/drawing/2014/main" id="{3E3A8851-149C-50A6-6035-747C7289369F}"/>
              </a:ext>
            </a:extLst>
          </p:cNvPr>
          <p:cNvSpPr/>
          <p:nvPr/>
        </p:nvSpPr>
        <p:spPr>
          <a:xfrm>
            <a:off x="780757" y="1669786"/>
            <a:ext cx="3220504" cy="696533"/>
          </a:xfrm>
          <a:prstGeom prst="round2SameRect">
            <a:avLst>
              <a:gd name="adj1" fmla="val 0"/>
              <a:gd name="adj2" fmla="val 11632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田中</a:t>
            </a:r>
            <a:r>
              <a:rPr kumimoji="1" lang="en-US" altLang="ja-JP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kumimoji="1"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太郎</a:t>
            </a:r>
          </a:p>
        </p:txBody>
      </p:sp>
      <p:sp>
        <p:nvSpPr>
          <p:cNvPr id="11" name="片側の 2 つの角を丸めた四角形 10">
            <a:extLst>
              <a:ext uri="{FF2B5EF4-FFF2-40B4-BE49-F238E27FC236}">
                <a16:creationId xmlns:a16="http://schemas.microsoft.com/office/drawing/2014/main" id="{631598BF-7292-BA71-F5B8-34B2A8986EF4}"/>
              </a:ext>
            </a:extLst>
          </p:cNvPr>
          <p:cNvSpPr/>
          <p:nvPr/>
        </p:nvSpPr>
        <p:spPr>
          <a:xfrm>
            <a:off x="8190739" y="3527290"/>
            <a:ext cx="3220504" cy="2528953"/>
          </a:xfrm>
          <a:prstGeom prst="round2SameRect">
            <a:avLst>
              <a:gd name="adj1" fmla="val 0"/>
              <a:gd name="adj2" fmla="val 3336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tlCol="0" anchor="t" anchorCtr="0"/>
          <a:lstStyle/>
          <a:p>
            <a:pPr marL="268288" indent="-2206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佐藤 健一（リーダー）</a:t>
            </a:r>
            <a:endParaRPr kumimoji="1"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268288" indent="-2206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山田</a:t>
            </a:r>
            <a:r>
              <a:rPr lang="en-US" altLang="ja-JP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花子</a:t>
            </a:r>
            <a:endParaRPr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268288" indent="-2206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田中 宏樹</a:t>
            </a:r>
            <a:endParaRPr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268288" indent="-2206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ja-JP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ja-JP" altLang="en-US" b="1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6041FA6F-0558-F711-AA74-767A16EB262D}"/>
              </a:ext>
            </a:extLst>
          </p:cNvPr>
          <p:cNvSpPr/>
          <p:nvPr/>
        </p:nvSpPr>
        <p:spPr>
          <a:xfrm>
            <a:off x="1059727" y="5256699"/>
            <a:ext cx="6333532" cy="5350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accent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業務の一部を外部制作会社に委託</a:t>
            </a:r>
          </a:p>
        </p:txBody>
      </p:sp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2C88C2AB-140B-6CB4-8AB7-353F4243C01B}"/>
              </a:ext>
            </a:extLst>
          </p:cNvPr>
          <p:cNvCxnSpPr>
            <a:cxnSpLocks/>
            <a:stCxn id="10" idx="1"/>
            <a:endCxn id="18" idx="3"/>
          </p:cNvCxnSpPr>
          <p:nvPr/>
        </p:nvCxnSpPr>
        <p:spPr>
          <a:xfrm rot="16200000" flipH="1">
            <a:off x="3866152" y="891176"/>
            <a:ext cx="754705" cy="3704990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カギ線コネクタ 13">
            <a:extLst>
              <a:ext uri="{FF2B5EF4-FFF2-40B4-BE49-F238E27FC236}">
                <a16:creationId xmlns:a16="http://schemas.microsoft.com/office/drawing/2014/main" id="{C6DD1FC6-1005-071C-74A5-76F90512F721}"/>
              </a:ext>
            </a:extLst>
          </p:cNvPr>
          <p:cNvCxnSpPr>
            <a:cxnSpLocks/>
            <a:stCxn id="10" idx="1"/>
            <a:endCxn id="19" idx="3"/>
          </p:cNvCxnSpPr>
          <p:nvPr/>
        </p:nvCxnSpPr>
        <p:spPr>
          <a:xfrm rot="16200000" flipH="1">
            <a:off x="5718648" y="-961320"/>
            <a:ext cx="754705" cy="740998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84F51AA-B7B2-DE61-0CC1-C20A87B71919}"/>
              </a:ext>
            </a:extLst>
          </p:cNvPr>
          <p:cNvCxnSpPr>
            <a:stCxn id="10" idx="1"/>
            <a:endCxn id="17" idx="3"/>
          </p:cNvCxnSpPr>
          <p:nvPr/>
        </p:nvCxnSpPr>
        <p:spPr>
          <a:xfrm>
            <a:off x="2391009" y="2366319"/>
            <a:ext cx="0" cy="7547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片側の 2 つの角を丸めた四角形 15">
            <a:extLst>
              <a:ext uri="{FF2B5EF4-FFF2-40B4-BE49-F238E27FC236}">
                <a16:creationId xmlns:a16="http://schemas.microsoft.com/office/drawing/2014/main" id="{EAF453EF-81BD-E1A6-EFFD-63420A7AE768}"/>
              </a:ext>
            </a:extLst>
          </p:cNvPr>
          <p:cNvSpPr/>
          <p:nvPr/>
        </p:nvSpPr>
        <p:spPr>
          <a:xfrm>
            <a:off x="780757" y="1281986"/>
            <a:ext cx="3220504" cy="406266"/>
          </a:xfrm>
          <a:prstGeom prst="round2SameRect">
            <a:avLst>
              <a:gd name="adj1" fmla="val 17094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>
                <a:latin typeface="Yu Gothic" panose="020B0400000000000000" pitchFamily="34" charset="-128"/>
                <a:ea typeface="Yu Gothic" panose="020B0400000000000000" pitchFamily="34" charset="-128"/>
              </a:rPr>
              <a:t>プロジェクトリーダー</a:t>
            </a:r>
          </a:p>
        </p:txBody>
      </p:sp>
      <p:sp>
        <p:nvSpPr>
          <p:cNvPr id="17" name="片側の 2 つの角を丸めた四角形 16">
            <a:extLst>
              <a:ext uri="{FF2B5EF4-FFF2-40B4-BE49-F238E27FC236}">
                <a16:creationId xmlns:a16="http://schemas.microsoft.com/office/drawing/2014/main" id="{73411628-2C82-BEDF-B7F9-E38B7A1A65E5}"/>
              </a:ext>
            </a:extLst>
          </p:cNvPr>
          <p:cNvSpPr/>
          <p:nvPr/>
        </p:nvSpPr>
        <p:spPr>
          <a:xfrm>
            <a:off x="780757" y="3121024"/>
            <a:ext cx="3220504" cy="406266"/>
          </a:xfrm>
          <a:prstGeom prst="round2SameRect">
            <a:avLst>
              <a:gd name="adj1" fmla="val 1424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>
                <a:latin typeface="Yu Gothic" panose="020B0400000000000000" pitchFamily="34" charset="-128"/>
                <a:ea typeface="Yu Gothic" panose="020B0400000000000000" pitchFamily="34" charset="-128"/>
              </a:rPr>
              <a:t>クリエイティブチーム</a:t>
            </a:r>
          </a:p>
        </p:txBody>
      </p:sp>
      <p:sp>
        <p:nvSpPr>
          <p:cNvPr id="18" name="片側の 2 つの角を丸めた四角形 17">
            <a:extLst>
              <a:ext uri="{FF2B5EF4-FFF2-40B4-BE49-F238E27FC236}">
                <a16:creationId xmlns:a16="http://schemas.microsoft.com/office/drawing/2014/main" id="{40A3EF8E-E71B-1845-8F9F-F1A19429FFF7}"/>
              </a:ext>
            </a:extLst>
          </p:cNvPr>
          <p:cNvSpPr/>
          <p:nvPr/>
        </p:nvSpPr>
        <p:spPr>
          <a:xfrm>
            <a:off x="4485747" y="3121024"/>
            <a:ext cx="3220504" cy="406266"/>
          </a:xfrm>
          <a:prstGeom prst="round2SameRect">
            <a:avLst>
              <a:gd name="adj1" fmla="val 17094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>
                <a:latin typeface="Yu Gothic" panose="020B0400000000000000" pitchFamily="34" charset="-128"/>
                <a:ea typeface="Yu Gothic" panose="020B0400000000000000" pitchFamily="34" charset="-128"/>
              </a:rPr>
              <a:t>投稿管理・広告運用チーム</a:t>
            </a:r>
          </a:p>
        </p:txBody>
      </p:sp>
      <p:sp>
        <p:nvSpPr>
          <p:cNvPr id="19" name="片側の 2 つの角を丸めた四角形 18">
            <a:extLst>
              <a:ext uri="{FF2B5EF4-FFF2-40B4-BE49-F238E27FC236}">
                <a16:creationId xmlns:a16="http://schemas.microsoft.com/office/drawing/2014/main" id="{CF6C8A7E-78A2-DB7A-6C0C-96B79D48B6F7}"/>
              </a:ext>
            </a:extLst>
          </p:cNvPr>
          <p:cNvSpPr/>
          <p:nvPr/>
        </p:nvSpPr>
        <p:spPr>
          <a:xfrm>
            <a:off x="8190739" y="3121024"/>
            <a:ext cx="3220504" cy="406266"/>
          </a:xfrm>
          <a:prstGeom prst="round2SameRect">
            <a:avLst>
              <a:gd name="adj1" fmla="val 1424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>
                <a:latin typeface="Yu Gothic" panose="020B0400000000000000" pitchFamily="34" charset="-128"/>
                <a:ea typeface="Yu Gothic" panose="020B0400000000000000" pitchFamily="34" charset="-128"/>
              </a:rPr>
              <a:t>データ分析担当チーム</a:t>
            </a:r>
          </a:p>
        </p:txBody>
      </p:sp>
    </p:spTree>
    <p:extLst>
      <p:ext uri="{BB962C8B-B14F-4D97-AF65-F5344CB8AC3E}">
        <p14:creationId xmlns:p14="http://schemas.microsoft.com/office/powerpoint/2010/main" val="1630360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446E3-6F7D-40D7-9CE0-84817F13C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A92F944-820A-E374-1C42-DD89BDACC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EE0DFA-27FC-5F91-6AFF-890A6BA8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85C3E-5C69-C74B-88D2-3CD82C73D522}" type="slidenum">
              <a:rPr lang="ja-JP" altLang="en-US" smtClean="0"/>
              <a:pPr/>
              <a:t>18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01F3BD4-0FAB-0291-9047-1E4331061B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197" y="366204"/>
            <a:ext cx="1461939" cy="249299"/>
          </a:xfrm>
        </p:spPr>
        <p:txBody>
          <a:bodyPr/>
          <a:lstStyle/>
          <a:p>
            <a:r>
              <a:rPr kumimoji="1" lang="ja-JP" altLang="en-US"/>
              <a:t>スケジュール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E22CE217-66D0-38E9-A4AF-0C44B3D650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137" y="363705"/>
            <a:ext cx="227627" cy="221599"/>
          </a:xfrm>
        </p:spPr>
        <p:txBody>
          <a:bodyPr/>
          <a:lstStyle/>
          <a:p>
            <a:r>
              <a:rPr kumimoji="1" lang="en-US" altLang="ja-JP" dirty="0"/>
              <a:t>07</a:t>
            </a:r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29227E-798D-46C2-EC58-6301543C2EA9}"/>
              </a:ext>
            </a:extLst>
          </p:cNvPr>
          <p:cNvSpPr txBox="1"/>
          <p:nvPr/>
        </p:nvSpPr>
        <p:spPr>
          <a:xfrm>
            <a:off x="385586" y="1038772"/>
            <a:ext cx="11405686" cy="49866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lnSpc>
                <a:spcPct val="114000"/>
              </a:lnSpc>
              <a:defRPr sz="2400" b="1" spc="1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Futura Medium" panose="020B0602020204020303" pitchFamily="34" charset="-79"/>
              </a:defRPr>
            </a:lvl1pPr>
          </a:lstStyle>
          <a:p>
            <a:pPr algn="ctr">
              <a:lnSpc>
                <a:spcPct val="117000"/>
              </a:lnSpc>
            </a:pPr>
            <a:r>
              <a:rPr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段階的な運用とデータ分析を徹底。</a:t>
            </a:r>
            <a:r>
              <a:rPr lang="ja-JP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短期成果創出と中長期の運用最適化</a:t>
            </a:r>
            <a:r>
              <a:rPr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を両立</a:t>
            </a:r>
            <a:endParaRPr lang="en-US" altLang="ja-JP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42B977C2-8E00-9ABF-F5E0-A265BDBD0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100243"/>
              </p:ext>
            </p:extLst>
          </p:nvPr>
        </p:nvGraphicFramePr>
        <p:xfrm>
          <a:off x="541339" y="1804481"/>
          <a:ext cx="11232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035649305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1153671988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987286713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17013548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4274452356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4153070834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kumimoji="1" lang="ja-JP" altLang="en-US" sz="140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solidFill>
                            <a:schemeClr val="accent1"/>
                          </a:solidFill>
                        </a:rPr>
                        <a:t>1</a:t>
                      </a:r>
                      <a:r>
                        <a:rPr kumimoji="1" lang="ja-JP" altLang="en-US" sz="1600">
                          <a:solidFill>
                            <a:schemeClr val="accent1"/>
                          </a:solidFill>
                        </a:rPr>
                        <a:t>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kumimoji="1" lang="ja-JP" altLang="en-US" sz="1600">
                          <a:solidFill>
                            <a:schemeClr val="accent1"/>
                          </a:solidFill>
                        </a:rPr>
                        <a:t>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kumimoji="1" lang="ja-JP" altLang="en-US" sz="1600">
                          <a:solidFill>
                            <a:schemeClr val="accent1"/>
                          </a:solidFill>
                        </a:rPr>
                        <a:t>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solidFill>
                            <a:schemeClr val="accent1"/>
                          </a:solidFill>
                        </a:rPr>
                        <a:t>4</a:t>
                      </a:r>
                      <a:r>
                        <a:rPr kumimoji="1" lang="ja-JP" altLang="en-US" sz="1600">
                          <a:solidFill>
                            <a:schemeClr val="accent1"/>
                          </a:solidFill>
                        </a:rPr>
                        <a:t>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solidFill>
                            <a:schemeClr val="accent1"/>
                          </a:solidFill>
                        </a:rPr>
                        <a:t>5</a:t>
                      </a:r>
                      <a:r>
                        <a:rPr kumimoji="1" lang="ja-JP" altLang="en-US" sz="1600">
                          <a:solidFill>
                            <a:schemeClr val="accent1"/>
                          </a:solidFill>
                        </a:rPr>
                        <a:t>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307566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アカウント準備と</a:t>
                      </a:r>
                      <a:br>
                        <a:rPr kumimoji="1" lang="en-US" altLang="ja-JP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初期コンテンツ制作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224919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チーム体制の構築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06115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定期運用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16763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フォロワー増加施策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044043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運用データの分析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067203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施策評価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897174"/>
                  </a:ext>
                </a:extLst>
              </a:tr>
            </a:tbl>
          </a:graphicData>
        </a:graphic>
      </p:graphicFrame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CCAE56A0-5F70-6195-9D8A-4BFE0A634BE3}"/>
              </a:ext>
            </a:extLst>
          </p:cNvPr>
          <p:cNvSpPr/>
          <p:nvPr/>
        </p:nvSpPr>
        <p:spPr>
          <a:xfrm>
            <a:off x="2639144" y="2438066"/>
            <a:ext cx="2662061" cy="3322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1/5 〜 2/15</a:t>
            </a:r>
            <a:endParaRPr kumimoji="1" lang="ja-JP" altLang="en-US" sz="1400" b="1">
              <a:solidFill>
                <a:schemeClr val="bg1"/>
              </a:solidFill>
              <a:latin typeface="Arial" panose="020B060402020202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B8B4A063-1522-D389-49D2-2DCB42F6FD11}"/>
              </a:ext>
            </a:extLst>
          </p:cNvPr>
          <p:cNvSpPr/>
          <p:nvPr/>
        </p:nvSpPr>
        <p:spPr>
          <a:xfrm>
            <a:off x="3072281" y="3124874"/>
            <a:ext cx="2662061" cy="3322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1/25 〜 2/22</a:t>
            </a:r>
            <a:endParaRPr kumimoji="1" lang="ja-JP" altLang="en-US" sz="1400" b="1">
              <a:solidFill>
                <a:schemeClr val="bg1"/>
              </a:solidFill>
              <a:latin typeface="Arial" panose="020B060402020202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22" name="角丸四角形 21">
            <a:extLst>
              <a:ext uri="{FF2B5EF4-FFF2-40B4-BE49-F238E27FC236}">
                <a16:creationId xmlns:a16="http://schemas.microsoft.com/office/drawing/2014/main" id="{91E2BAA5-0E1F-C040-F31F-6DF30C2711E8}"/>
              </a:ext>
            </a:extLst>
          </p:cNvPr>
          <p:cNvSpPr/>
          <p:nvPr/>
        </p:nvSpPr>
        <p:spPr>
          <a:xfrm>
            <a:off x="5627590" y="3811682"/>
            <a:ext cx="6023071" cy="3322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2/23 〜 2/22</a:t>
            </a:r>
            <a:endParaRPr kumimoji="1" lang="ja-JP" altLang="en-US" sz="1400" b="1">
              <a:solidFill>
                <a:schemeClr val="bg1"/>
              </a:solidFill>
              <a:latin typeface="Arial" panose="020B060402020202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0868F7F2-C233-925D-3A75-DCDBE3F79048}"/>
              </a:ext>
            </a:extLst>
          </p:cNvPr>
          <p:cNvSpPr/>
          <p:nvPr/>
        </p:nvSpPr>
        <p:spPr>
          <a:xfrm>
            <a:off x="6535271" y="4498490"/>
            <a:ext cx="2447364" cy="3322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3/8 〜 4/15</a:t>
            </a:r>
            <a:endParaRPr kumimoji="1" lang="ja-JP" altLang="en-US" sz="1400" b="1">
              <a:solidFill>
                <a:schemeClr val="bg1"/>
              </a:solidFill>
              <a:latin typeface="Arial" panose="020B060402020202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4FB2AE3C-0DE8-278E-21C5-495852023A9B}"/>
              </a:ext>
            </a:extLst>
          </p:cNvPr>
          <p:cNvSpPr/>
          <p:nvPr/>
        </p:nvSpPr>
        <p:spPr>
          <a:xfrm>
            <a:off x="9895345" y="5185298"/>
            <a:ext cx="1180485" cy="3322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5/1 〜 5/7</a:t>
            </a:r>
            <a:endParaRPr kumimoji="1" lang="ja-JP" altLang="en-US" sz="1400" b="1">
              <a:solidFill>
                <a:schemeClr val="bg1"/>
              </a:solidFill>
              <a:latin typeface="Arial" panose="020B060402020202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25" name="角丸四角形 24">
            <a:extLst>
              <a:ext uri="{FF2B5EF4-FFF2-40B4-BE49-F238E27FC236}">
                <a16:creationId xmlns:a16="http://schemas.microsoft.com/office/drawing/2014/main" id="{C8DF046D-A64D-DE43-3B1C-499200FD3C67}"/>
              </a:ext>
            </a:extLst>
          </p:cNvPr>
          <p:cNvSpPr/>
          <p:nvPr/>
        </p:nvSpPr>
        <p:spPr>
          <a:xfrm>
            <a:off x="10629441" y="5872106"/>
            <a:ext cx="1180485" cy="3322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5/7 〜 5/31</a:t>
            </a:r>
            <a:endParaRPr kumimoji="1" lang="ja-JP" altLang="en-US" sz="1400" b="1">
              <a:solidFill>
                <a:schemeClr val="bg1"/>
              </a:solidFill>
              <a:latin typeface="Arial" panose="020B060402020202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360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107F0-566B-C705-A9A9-525F00ECE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B1694E-B638-2CA2-F037-BA811D20A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454" y="6659485"/>
            <a:ext cx="2340384" cy="138499"/>
          </a:xfrm>
        </p:spPr>
        <p:txBody>
          <a:bodyPr/>
          <a:lstStyle/>
          <a:p>
            <a:r>
              <a:rPr lang="en" altLang="ja-JP"/>
              <a:t>© 2025 Company Name. All Right Reserved.</a:t>
            </a:r>
            <a:endParaRPr lang="en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B614CD-DEF3-85D3-0DCA-52F60803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5674" y="6464778"/>
            <a:ext cx="568569" cy="365125"/>
          </a:xfrm>
        </p:spPr>
        <p:txBody>
          <a:bodyPr/>
          <a:lstStyle/>
          <a:p>
            <a:fld id="{3B885C3E-5C69-C74B-88D2-3CD82C73D522}" type="slidenum">
              <a:rPr lang="ja-JP" altLang="en-US" smtClean="0"/>
              <a:pPr/>
              <a:t>19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536B5A3-3D40-6A50-6EA2-8A6DCC8CC8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197" y="366204"/>
            <a:ext cx="1949252" cy="249299"/>
          </a:xfrm>
        </p:spPr>
        <p:txBody>
          <a:bodyPr/>
          <a:lstStyle/>
          <a:p>
            <a:r>
              <a:rPr lang="ja-JP" altLang="en-US"/>
              <a:t>サマリー（再掲）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41B6404F-89DD-FA77-076F-884FB13934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137" y="363705"/>
            <a:ext cx="227626" cy="221599"/>
          </a:xfrm>
        </p:spPr>
        <p:txBody>
          <a:bodyPr/>
          <a:lstStyle/>
          <a:p>
            <a:r>
              <a:rPr lang="en-US" altLang="ja-JP" dirty="0"/>
              <a:t>08</a:t>
            </a:r>
            <a:endParaRPr lang="ja-JP" altLang="en-US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32F6CEFF-A8E0-F865-1C27-8536CCDF4A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454036"/>
              </p:ext>
            </p:extLst>
          </p:nvPr>
        </p:nvGraphicFramePr>
        <p:xfrm>
          <a:off x="747532" y="967237"/>
          <a:ext cx="10696936" cy="5492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983">
                  <a:extLst>
                    <a:ext uri="{9D8B030D-6E8A-4147-A177-3AD203B41FA5}">
                      <a16:colId xmlns:a16="http://schemas.microsoft.com/office/drawing/2014/main" val="3711996526"/>
                    </a:ext>
                  </a:extLst>
                </a:gridCol>
                <a:gridCol w="8357953">
                  <a:extLst>
                    <a:ext uri="{9D8B030D-6E8A-4147-A177-3AD203B41FA5}">
                      <a16:colId xmlns:a16="http://schemas.microsoft.com/office/drawing/2014/main" val="1111179548"/>
                    </a:ext>
                  </a:extLst>
                </a:gridCol>
              </a:tblGrid>
              <a:tr h="91537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accent1"/>
                          </a:solidFill>
                        </a:rPr>
                        <a:t>現状の問題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-190500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ja-JP" altLang="en-US" sz="1400" b="0" i="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売上が横ばい、</a:t>
                      </a:r>
                      <a:r>
                        <a:rPr kumimoji="1" lang="ja-JP" altLang="en-US" sz="1400" b="1" i="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新規顧客獲得数が停滞</a:t>
                      </a:r>
                    </a:p>
                    <a:p>
                      <a:pPr marL="190500" indent="-190500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" altLang="ja-JP" sz="1400" b="0" i="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CPA</a:t>
                      </a:r>
                      <a:r>
                        <a:rPr kumimoji="1" lang="ja-JP" altLang="en" sz="1400" b="0" i="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（</a:t>
                      </a:r>
                      <a:r>
                        <a:rPr kumimoji="1" lang="ja-JP" altLang="en-US" sz="1400" b="0" i="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顧客獲得単価）が高騰し、費用対効果が悪化</a:t>
                      </a:r>
                    </a:p>
                  </a:txBody>
                  <a:tcPr marL="28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39601"/>
                  </a:ext>
                </a:extLst>
              </a:tr>
              <a:tr h="91537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>
                          <a:solidFill>
                            <a:schemeClr val="accent1"/>
                          </a:solidFill>
                        </a:rPr>
                        <a:t>問題の原因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Web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広告の効果低下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（</a:t>
                      </a:r>
                      <a:r>
                        <a:rPr kumimoji="1" lang="en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CPM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高騰・クリエイティブ疲労）</a:t>
                      </a:r>
                    </a:p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SNS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未活用で若年層（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20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代～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30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代）へのリーチ不足</a:t>
                      </a:r>
                    </a:p>
                  </a:txBody>
                  <a:tcPr marL="28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824231"/>
                  </a:ext>
                </a:extLst>
              </a:tr>
              <a:tr h="91537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>
                          <a:solidFill>
                            <a:schemeClr val="accent1"/>
                          </a:solidFill>
                        </a:rPr>
                        <a:t>解決策・提案内容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Instagram</a:t>
                      </a:r>
                      <a:r>
                        <a:rPr kumimoji="1" lang="ja-JP" altLang="en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・</a:t>
                      </a:r>
                      <a:r>
                        <a:rPr kumimoji="1" lang="en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TikTok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運用を開始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し、新しいチャネルを構築。</a:t>
                      </a:r>
                    </a:p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具体施策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: </a:t>
                      </a:r>
                      <a:r>
                        <a:rPr kumimoji="1" lang="en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Instagram</a:t>
                      </a:r>
                      <a:r>
                        <a:rPr kumimoji="1" lang="ja-JP" altLang="en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（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成功事例・</a:t>
                      </a:r>
                      <a:r>
                        <a:rPr kumimoji="1" lang="en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Q&amp;A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投稿）、</a:t>
                      </a:r>
                      <a:r>
                        <a:rPr kumimoji="1" lang="en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TikTok</a:t>
                      </a:r>
                      <a:r>
                        <a:rPr kumimoji="1" lang="ja-JP" altLang="en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（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学習</a:t>
                      </a:r>
                      <a:r>
                        <a:rPr kumimoji="1" lang="en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Tips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動画）</a:t>
                      </a:r>
                    </a:p>
                  </a:txBody>
                  <a:tcPr marL="28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319265"/>
                  </a:ext>
                </a:extLst>
              </a:tr>
              <a:tr h="91537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>
                          <a:solidFill>
                            <a:schemeClr val="accent1"/>
                          </a:solidFill>
                        </a:rPr>
                        <a:t>必要費用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初期費用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en-US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70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万円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（動画制作費 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50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万円、デザイン費 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20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万円）</a:t>
                      </a:r>
                    </a:p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月次費用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en-US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40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万円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（広告予算 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30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万円、運用担当者コスト 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10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万円）</a:t>
                      </a:r>
                    </a:p>
                  </a:txBody>
                  <a:tcPr marL="28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761685"/>
                  </a:ext>
                </a:extLst>
              </a:tr>
              <a:tr h="91537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>
                          <a:solidFill>
                            <a:schemeClr val="accent1"/>
                          </a:solidFill>
                        </a:rPr>
                        <a:t>期待効果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新規リード数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en-US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+20%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増加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（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3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ヶ月以内）</a:t>
                      </a:r>
                    </a:p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</a:t>
                      </a:r>
                      <a:r>
                        <a:rPr kumimoji="1" lang="en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CPA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en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15,000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円 → </a:t>
                      </a:r>
                      <a:r>
                        <a:rPr kumimoji="1" lang="en-US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12,000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円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（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6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ヶ月以内）</a:t>
                      </a:r>
                      <a:endParaRPr kumimoji="1" lang="en-US" altLang="ja-JP" sz="1400" b="0" i="0" kern="1200" spc="100" baseline="0" dirty="0">
                        <a:solidFill>
                          <a:schemeClr val="tx1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回収期間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初期費用は</a:t>
                      </a:r>
                      <a:r>
                        <a:rPr kumimoji="1" lang="en-US" altLang="ja-JP" sz="1400" b="1" i="0" kern="1200" spc="100" baseline="0" dirty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6</a:t>
                      </a:r>
                      <a:r>
                        <a:rPr kumimoji="1" lang="ja-JP" altLang="en-US" sz="1400" b="1" i="0" kern="1200" spc="100" baseline="0">
                          <a:solidFill>
                            <a:schemeClr val="accent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ヶ月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で回収見込み</a:t>
                      </a:r>
                    </a:p>
                  </a:txBody>
                  <a:tcPr marL="28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400510"/>
                  </a:ext>
                </a:extLst>
              </a:tr>
              <a:tr h="91537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>
                          <a:solidFill>
                            <a:schemeClr val="accent1"/>
                          </a:solidFill>
                        </a:rPr>
                        <a:t>実行計画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【1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月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アカウント開設、初期コンテンツ制作</a:t>
                      </a:r>
                    </a:p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【2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月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定期投稿開始、初期キャンペーン実施</a:t>
                      </a:r>
                    </a:p>
                    <a:p>
                      <a:pPr marL="190500" indent="-190500" algn="l" defTabSz="914400" rtl="0" eaLnBrk="1" latinLnBrk="0" hangingPunct="1">
                        <a:lnSpc>
                          <a:spcPct val="11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【3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月</a:t>
                      </a:r>
                      <a:r>
                        <a:rPr kumimoji="1" lang="en-US" altLang="ja-JP" sz="1400" b="0" i="0" kern="1200" spc="100" baseline="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】</a:t>
                      </a:r>
                      <a:r>
                        <a:rPr kumimoji="1" lang="ja-JP" altLang="en-US" sz="1400" b="0" i="0" kern="1200" spc="100" baseline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広告連携、効果測定と改善</a:t>
                      </a:r>
                    </a:p>
                  </a:txBody>
                  <a:tcPr marL="28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598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80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template">
      <a:dk1>
        <a:srgbClr val="464846"/>
      </a:dk1>
      <a:lt1>
        <a:srgbClr val="FFFFFF"/>
      </a:lt1>
      <a:dk2>
        <a:srgbClr val="0E2841"/>
      </a:dk2>
      <a:lt2>
        <a:srgbClr val="E8E8E8"/>
      </a:lt2>
      <a:accent1>
        <a:srgbClr val="0399D8"/>
      </a:accent1>
      <a:accent2>
        <a:srgbClr val="F7689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8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2331</TotalTime>
  <Words>2127</Words>
  <Application>Microsoft Macintosh PowerPoint</Application>
  <PresentationFormat>ワイド画面</PresentationFormat>
  <Paragraphs>354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5" baseType="lpstr">
      <vt:lpstr>Yu Gothic</vt:lpstr>
      <vt:lpstr>Yu Gothic</vt:lpstr>
      <vt:lpstr>Arial</vt:lpstr>
      <vt:lpstr>Avenir Black Oblique</vt:lpstr>
      <vt:lpstr>Wingdings</vt:lpstr>
      <vt:lpstr>Office テーマ</vt:lpstr>
      <vt:lpstr>PowerPoint プレゼンテーション</vt:lpstr>
      <vt:lpstr>PowerPoint プレゼンテーション</vt:lpstr>
      <vt:lpstr>PowerPoint プレゼンテーション</vt:lpstr>
      <vt:lpstr>〜新規顧客獲得の頭打ちを打開する新チャネル施策〜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 テスト</dc:creator>
  <cp:lastModifiedBy>test テスト</cp:lastModifiedBy>
  <cp:revision>63</cp:revision>
  <dcterms:created xsi:type="dcterms:W3CDTF">2024-12-13T10:44:14Z</dcterms:created>
  <dcterms:modified xsi:type="dcterms:W3CDTF">2025-01-08T08:12:49Z</dcterms:modified>
</cp:coreProperties>
</file>